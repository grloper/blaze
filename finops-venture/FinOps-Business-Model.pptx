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revenue</c:v>
                </c:pt>
              </c:strCache>
            </c:strRef>
          </c:tx>
          <c:spPr>
            <a:solidFill>
              <a:srgbClr val="2ECC8F"/>
            </a:solidFill>
            <a:effectLst/>
          </c:spPr>
          <c:invertIfNegative val="0"/>
          <c:dLbls>
            <c:numFmt formatCode="$#,##0" sourceLinked="0"/>
            <c:txPr>
              <a:bodyPr/>
              <a:lstStyle/>
              <a:p>
                <a:pPr>
                  <a:defRPr b="0" i="0" strike="noStrike" sz="1200" u="none">
                    <a:solidFill>
                      <a:srgbClr val="FFFF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Month 1</c:v>
                  </c:pt>
                  <c:pt idx="1">
                    <c:v>Month 3</c:v>
                  </c:pt>
                  <c:pt idx="2">
                    <c:v>Month 6</c:v>
                  </c:pt>
                  <c:pt idx="3">
                    <c:v>Month 12</c:v>
                  </c:pt>
                </c:lvl>
              </c:multiLvlStrCache>
            </c:multiLvlStrRef>
          </c:cat>
          <c:val>
            <c:numRef>
              <c:f>Sheet1!$B$2:$B$5</c:f>
              <c:numCache>
                <c:formatCode>General</c:formatCode>
                <c:ptCount val="4"/>
                <c:pt idx="0">
                  <c:v>1000</c:v>
                </c:pt>
                <c:pt idx="1">
                  <c:v>6500</c:v>
                </c:pt>
                <c:pt idx="2">
                  <c:v>18000</c:v>
                </c:pt>
                <c:pt idx="3">
                  <c:v>32000</c:v>
                </c:pt>
              </c:numCache>
            </c:numRef>
          </c:val>
        </c:ser>
        <c:dLbls>
          <c:numFmt formatCode="$#,##0" sourceLinked="0"/>
          <c:txPr>
            <a:bodyPr/>
            <a:lstStyle/>
            <a:p>
              <a:pPr>
                <a:defRPr b="0" i="0" strike="noStrike" sz="1200" u="none">
                  <a:solidFill>
                    <a:srgbClr val="FFFFF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DB2C4"/>
                </a:solidFill>
                <a:latin typeface="Calibri"/>
              </a:defRPr>
            </a:pPr>
            <a:endParaRPr lang="en-US"/>
          </a:p>
        </c:txPr>
        <c:crossAx val="2094734552"/>
        <c:crosses val="autoZero"/>
        <c:auto val="1"/>
        <c:lblAlgn val="ctr"/>
        <c:noMultiLvlLbl val="1"/>
      </c:catAx>
      <c:valAx>
        <c:axId val="2094734552"/>
        <c:scaling>
          <c:orientation val="minMax"/>
          <c:max val="38000"/>
        </c:scaling>
        <c:delete val="0"/>
        <c:axPos val="l"/>
        <c:majorGridlines>
          <c:spPr>
            <a:ln w="12700" cap="flat">
              <a:solidFill>
                <a:srgbClr val="1E3A5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DB2C4"/>
                </a:solidFill>
                <a:latin typeface="Calibri"/>
              </a:defRPr>
            </a:pPr>
            <a:endParaRPr lang="en-US"/>
          </a:p>
        </c:txPr>
        <c:crossAx val="2094734554"/>
        <c:crosses val="autoZero"/>
        <c:crossBetween val="between"/>
      </c:valAx>
      <c:spPr>
        <a:solidFill>
          <a:srgbClr val="0B1B2B"/>
        </a:solidFill>
        <a:ln>
          <a:noFill/>
        </a:ln>
        <a:effectLst/>
      </c:spPr>
    </c:plotArea>
    <c:plotVisOnly val="1"/>
    <c:dispBlanksAs val="span"/>
  </c:chart>
  <c:spPr>
    <a:solidFill>
      <a:srgbClr val="0B1B2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premise, not the mechanics. Every funded startup is overspending on cloud infrastructure by roughly a fifth to a third. That is not a rumour — it is measurable inside their own account in about thirty minutes. We are not inventing a product or a market. The money already exists, it is already theirs, and nobody is looking at it. Our entire business is being the people who look. Stress the last line: this business needs no capital, no inventory, and nothing built before the first sale. That is what makes it the right first move for four people with skills and no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for a non-technical listener: this is not incompetence and you must never pitch it as such. It is the natural result of a fast-growing company where infrastructure gets created constantly and deleted never. Use the physical analogy if the room needs it: it is like a company renting twelve offices, using four of them, and nobody ever cancelling the other eight — because cancelling a lease is somebody's job and nobody was ever given it. The three numbers are the whole slide. A $20k monthly bill is completely ordinary at Series A. A fifth to a third of it is waste. That is $50-80k a year, from a single customer, sitting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because it answers the question every listener is silently asking: if this money is just lying there, why hasn't their own team picked it up? Never suggest their engineers are not good enough. They usually are. The barrier is entirely structural — reason four is the real one. An engineer who deletes something and causes an outage owns that outage forever. An engineer who leaves it running loses the company $400 a month and nobody ever finds out. Given those incentives, leaving it running is the rational choice every time. That gap is our entire business. We are the outside party who does the frightening, boring sweep and carries the risk of having done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words for the identical piece of work, and only one of them sells. "Cloud efficiency" is how a technical person naturally describes this, and it is a losing frame — no company has an efficiency budget, so it competes against the product roadmap for attention and always loses. "Found money" is not a euphemism or a trick; it is a more accurate description of what the customer receives. They receive cash they already had. The practical rule for the team: whoever writes the emails must never use the word efficiency, optimisation, or rightsizing in a first message. Say the number and say the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deliberately non-technical. Column one is money lying on the floor — nothing is using these resources at all, and removing them cannot affect anything. Column two needs a scheduled moment because something briefly restarts, and it is normally the biggest single pile. Column three is the surprising one: charges that look like ordinary infrastructure but are really the provider billing for internal traffic that never needed to leave the building. Note the sequencing line at the bottom, because it is a sales tactic and not just an engineering one. We deliver the risk-free wins first. Once we have been demonstrably right about the safe items, the customer trusts us with the changes that carry actual risk — and those are where the real money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heart of the business and it maps exactly onto the reseller instinct — we are not inventing anything, we are the delivery layer on top of tools somebody else already built and gave away. The obvious objection: if the tools are free, why would anyone pay us? Use the medical analogy. A blood test result is free to print and completely useless on its own. What you pay for is somebody who reads it, tells you what it means, performs the procedure, and is accountable for the outcome. Also worth saying to the team: because the detection is automated and free, our cost per audit is essentially a few hours of attention. That is why the margins on this work are so unusually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whole business runs on, so rehearse it until it is automatic. The reason it works is that it removes every reason to say no, one at a time. There is no cost, no installation, no engineering time, no risk of damage, and no commitment. What is left is a person deciding whether to spend five minutes to find out a number about their own company. That is a very easy yes, and it is deliberately not a buying decision at all. One critical framing note for whoever is doing outreach: we never ask for a meeting in the first message. We ask for permission to look. The meeting happens naturally once there is a real number to discuss, and by then we are not selling — we are reporting findings they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steps quickly — the audience does not need the technical detail, only the shape. Then slow right down for the box at the bottom, because it is the single most important operating rule in the company and it does two jobs at once. Commercially, it dissolves the objection every prospect raises: what if you break something? We cannot. We do not have the ability, by design, and we will show them the permission list that proves it. Legally, it means every change was reviewed and approved in writing by the customer's own engineer before it happened. There is a permanent record of shared decision-making. If anyone on the team is ever tempted to accept full access because it would be faster, the answer is no. The moment we hold that access, every unrelated outage in that account becomes a conversation about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revenue lines and they do completely different jobs. The audit is how we win a customer — it is deliberately underpriced at the start because the first two are buying us proof, references, and the right to charge properly afterwards. Explain the red warning honestly: taking a percentage of savings sounds far more attractive and it is how the mature firms in this market operate, but it requires being able to prove precisely what was saved months after the fact. Until we have that measurement discipline and proper contracts, a percentage deal turns into an argument at exactly the moment we most need a reference. Flat fees first. The right-hand side is the actual business. Ten retainers at two thousand a month is twenty thousand recurring for roughly forty to sixty hours of work. Audit-only revenue is a job — you start from zero every single month. Retainers are an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 this chart is and is not. It is not a forecast — it is arithmetic showing what happens if we keep enough conversations running. Every number on it is a count of customers, not a growth rate we are hoping for. The critical structural point is the shape of the curve. Month one is one audit and almost no money, and that is fine and expected — its purpose is proof, not profit. The steepening later comes almost entirely from retainers stacking on top of each other, because each one keeps paying while we go and win the next. Month twelve is where this stops being four people with a side project and becomes a company that needs a second delivery person. Do not plan past that yet. Close on the final line, and mean it. Nothing on this slide is limited by our technical ability. It is limited entirely by outreach volume — by how many conversations we are willing to start. That is the only real constraint in this business, and it is completely within our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640080" y="1143000"/>
            <a:ext cx="6766560" cy="274320"/>
          </a:xfrm>
          <a:prstGeom prst="rect">
            <a:avLst/>
          </a:prstGeom>
          <a:noFill/>
          <a:ln/>
        </p:spPr>
        <p:txBody>
          <a:bodyPr wrap="square" lIns="0" tIns="0" rIns="0" bIns="0" rtlCol="0" anchor="ctr"/>
          <a:lstStyle/>
          <a:p>
            <a:pPr indent="0" marL="0">
              <a:buNone/>
            </a:pPr>
            <a:r>
              <a:rPr lang="en-US" sz="1200" b="1" spc="200" kern="0" dirty="0">
                <a:solidFill>
                  <a:srgbClr val="2ECC8F"/>
                </a:solidFill>
                <a:latin typeface="Calibri" pitchFamily="34" charset="0"/>
                <a:ea typeface="Calibri" pitchFamily="34" charset="-122"/>
                <a:cs typeface="Calibri" pitchFamily="34" charset="-120"/>
              </a:rPr>
              <a:t>THE BUSINESS IN ONE SLIDE</a:t>
            </a:r>
            <a:endParaRPr lang="en-US" sz="1200" dirty="0"/>
          </a:p>
        </p:txBody>
      </p:sp>
      <p:sp>
        <p:nvSpPr>
          <p:cNvPr id="3" name="Text 1"/>
          <p:cNvSpPr/>
          <p:nvPr/>
        </p:nvSpPr>
        <p:spPr>
          <a:xfrm>
            <a:off x="640080" y="1600200"/>
            <a:ext cx="6766560" cy="1920240"/>
          </a:xfrm>
          <a:prstGeom prst="rect">
            <a:avLst/>
          </a:prstGeom>
          <a:noFill/>
          <a:ln/>
        </p:spPr>
        <p:txBody>
          <a:bodyPr wrap="square" lIns="0" tIns="0" rIns="0" bIns="0" rtlCol="0" anchor="ctr"/>
          <a:lstStyle/>
          <a:p>
            <a:pPr indent="0" marL="0">
              <a:lnSpc>
                <a:spcPts val="5400"/>
              </a:lnSpc>
              <a:buNone/>
            </a:pPr>
            <a:r>
              <a:rPr lang="en-US" sz="5200" b="1" dirty="0">
                <a:solidFill>
                  <a:srgbClr val="FFFFFF"/>
                </a:solidFill>
                <a:latin typeface="Cambria" pitchFamily="34" charset="0"/>
                <a:ea typeface="Cambria" pitchFamily="34" charset="-122"/>
                <a:cs typeface="Cambria" pitchFamily="34" charset="-120"/>
              </a:rPr>
              <a:t>The money is</a:t>
            </a:r>
            <a:endParaRPr lang="en-US" sz="5200" dirty="0"/>
          </a:p>
          <a:p>
            <a:pPr indent="0" marL="0">
              <a:lnSpc>
                <a:spcPts val="5400"/>
              </a:lnSpc>
              <a:buNone/>
            </a:pPr>
            <a:r>
              <a:rPr lang="en-US" sz="5200" b="1" dirty="0">
                <a:solidFill>
                  <a:srgbClr val="FFFFFF"/>
                </a:solidFill>
                <a:latin typeface="Cambria" pitchFamily="34" charset="0"/>
                <a:ea typeface="Cambria" pitchFamily="34" charset="-122"/>
                <a:cs typeface="Cambria" pitchFamily="34" charset="-120"/>
              </a:rPr>
              <a:t>already there.</a:t>
            </a:r>
            <a:endParaRPr lang="en-US" sz="5200" dirty="0"/>
          </a:p>
        </p:txBody>
      </p:sp>
      <p:sp>
        <p:nvSpPr>
          <p:cNvPr id="4" name="Text 2"/>
          <p:cNvSpPr/>
          <p:nvPr/>
        </p:nvSpPr>
        <p:spPr>
          <a:xfrm>
            <a:off x="640080" y="3703320"/>
            <a:ext cx="6492240" cy="1005840"/>
          </a:xfrm>
          <a:prstGeom prst="rect">
            <a:avLst/>
          </a:prstGeom>
          <a:noFill/>
          <a:ln/>
        </p:spPr>
        <p:txBody>
          <a:bodyPr wrap="square" lIns="0" tIns="0" rIns="0" bIns="0" rtlCol="0" anchor="ctr"/>
          <a:lstStyle/>
          <a:p>
            <a:pPr indent="0" marL="0">
              <a:lnSpc>
                <a:spcPts val="2600"/>
              </a:lnSpc>
              <a:buNone/>
            </a:pPr>
            <a:r>
              <a:rPr lang="en-US" sz="1700" dirty="0">
                <a:solidFill>
                  <a:srgbClr val="9DB2C4"/>
                </a:solidFill>
                <a:latin typeface="Calibri" pitchFamily="34" charset="0"/>
                <a:ea typeface="Calibri" pitchFamily="34" charset="-122"/>
                <a:cs typeface="Calibri" pitchFamily="34" charset="-120"/>
              </a:rPr>
              <a:t>We find the fifth of a funded startup's cloud bill that nobody is watching, hand it back as cash, and get paid a slice of what we recover.</a:t>
            </a:r>
            <a:endParaRPr lang="en-US" sz="1700" dirty="0"/>
          </a:p>
        </p:txBody>
      </p:sp>
      <p:sp>
        <p:nvSpPr>
          <p:cNvPr id="5" name="Text 3"/>
          <p:cNvSpPr/>
          <p:nvPr/>
        </p:nvSpPr>
        <p:spPr>
          <a:xfrm>
            <a:off x="640080" y="4892040"/>
            <a:ext cx="6492240" cy="365760"/>
          </a:xfrm>
          <a:prstGeom prst="rect">
            <a:avLst/>
          </a:prstGeom>
          <a:noFill/>
          <a:ln/>
        </p:spPr>
        <p:txBody>
          <a:bodyPr wrap="square" lIns="0" tIns="0" rIns="0" bIns="0" rtlCol="0" anchor="ctr"/>
          <a:lstStyle/>
          <a:p>
            <a:pPr indent="0" marL="0">
              <a:buNone/>
            </a:pPr>
            <a:r>
              <a:rPr lang="en-US" sz="1500" b="1" i="1" dirty="0">
                <a:solidFill>
                  <a:srgbClr val="2ECC8F"/>
                </a:solidFill>
                <a:latin typeface="Calibri" pitchFamily="34" charset="0"/>
                <a:ea typeface="Calibri" pitchFamily="34" charset="-122"/>
                <a:cs typeface="Calibri" pitchFamily="34" charset="-120"/>
              </a:rPr>
              <a:t>No product to build.  No inventory.  No upfront capital.</a:t>
            </a:r>
            <a:endParaRPr lang="en-US" sz="1500" dirty="0"/>
          </a:p>
        </p:txBody>
      </p:sp>
      <p:sp>
        <p:nvSpPr>
          <p:cNvPr id="6" name="Shape 4"/>
          <p:cNvSpPr/>
          <p:nvPr/>
        </p:nvSpPr>
        <p:spPr>
          <a:xfrm>
            <a:off x="8092440" y="1737360"/>
            <a:ext cx="3200400" cy="3200400"/>
          </a:xfrm>
          <a:prstGeom prst="ellipse">
            <a:avLst/>
          </a:prstGeom>
          <a:solidFill>
            <a:srgbClr val="13304A"/>
          </a:solidFill>
          <a:ln w="28575">
            <a:solidFill>
              <a:srgbClr val="2ECC8F"/>
            </a:solidFill>
            <a:prstDash val="solid"/>
          </a:ln>
        </p:spPr>
      </p:sp>
      <p:sp>
        <p:nvSpPr>
          <p:cNvPr id="7" name="Text 5"/>
          <p:cNvSpPr/>
          <p:nvPr/>
        </p:nvSpPr>
        <p:spPr>
          <a:xfrm>
            <a:off x="8092440" y="2514600"/>
            <a:ext cx="3200400" cy="868680"/>
          </a:xfrm>
          <a:prstGeom prst="rect">
            <a:avLst/>
          </a:prstGeom>
          <a:noFill/>
          <a:ln/>
        </p:spPr>
        <p:txBody>
          <a:bodyPr wrap="square" lIns="0" tIns="0" rIns="0" bIns="0" rtlCol="0" anchor="ctr"/>
          <a:lstStyle/>
          <a:p>
            <a:pPr algn="ctr" indent="0" marL="0">
              <a:buNone/>
            </a:pPr>
            <a:r>
              <a:rPr lang="en-US" sz="4400" b="1" dirty="0">
                <a:solidFill>
                  <a:srgbClr val="2ECC8F"/>
                </a:solidFill>
                <a:latin typeface="Cambria" pitchFamily="34" charset="0"/>
                <a:ea typeface="Cambria" pitchFamily="34" charset="-122"/>
                <a:cs typeface="Cambria" pitchFamily="34" charset="-120"/>
              </a:rPr>
              <a:t>20–35%</a:t>
            </a:r>
            <a:endParaRPr lang="en-US" sz="4400" dirty="0"/>
          </a:p>
        </p:txBody>
      </p:sp>
      <p:sp>
        <p:nvSpPr>
          <p:cNvPr id="8" name="Text 6"/>
          <p:cNvSpPr/>
          <p:nvPr/>
        </p:nvSpPr>
        <p:spPr>
          <a:xfrm>
            <a:off x="8183880" y="3383280"/>
            <a:ext cx="3017520" cy="731520"/>
          </a:xfrm>
          <a:prstGeom prst="rect">
            <a:avLst/>
          </a:prstGeom>
          <a:noFill/>
          <a:ln/>
        </p:spPr>
        <p:txBody>
          <a:bodyPr wrap="square" lIns="0" tIns="0" rIns="0" bIns="0" rtlCol="0" anchor="ctr"/>
          <a:lstStyle/>
          <a:p>
            <a:pPr algn="ctr" indent="0" marL="0">
              <a:lnSpc>
                <a:spcPts val="1800"/>
              </a:lnSpc>
              <a:buNone/>
            </a:pPr>
            <a:r>
              <a:rPr lang="en-US" sz="1300" dirty="0">
                <a:solidFill>
                  <a:srgbClr val="9DB2C4"/>
                </a:solidFill>
                <a:latin typeface="Calibri" pitchFamily="34" charset="0"/>
                <a:ea typeface="Calibri" pitchFamily="34" charset="-122"/>
                <a:cs typeface="Calibri" pitchFamily="34" charset="-120"/>
              </a:rPr>
              <a:t>of the average AWS bill</a:t>
            </a:r>
            <a:endParaRPr lang="en-US" sz="1300" dirty="0"/>
          </a:p>
          <a:p>
            <a:pPr algn="ctr" indent="0" marL="0">
              <a:lnSpc>
                <a:spcPts val="1800"/>
              </a:lnSpc>
              <a:buNone/>
            </a:pPr>
            <a:r>
              <a:rPr lang="en-US" sz="1300" dirty="0">
                <a:solidFill>
                  <a:srgbClr val="9DB2C4"/>
                </a:solidFill>
                <a:latin typeface="Calibri" pitchFamily="34" charset="0"/>
                <a:ea typeface="Calibri" pitchFamily="34" charset="-122"/>
                <a:cs typeface="Calibri" pitchFamily="34" charset="-120"/>
              </a:rPr>
              <a:t>is recoverable waste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Startups burn $50,000+ a year without noticing</a:t>
            </a:r>
            <a:endParaRPr lang="en-US" sz="3400" dirty="0"/>
          </a:p>
        </p:txBody>
      </p:sp>
      <p:sp>
        <p:nvSpPr>
          <p:cNvPr id="4" name="Shape 2"/>
          <p:cNvSpPr/>
          <p:nvPr/>
        </p:nvSpPr>
        <p:spPr>
          <a:xfrm>
            <a:off x="640080" y="1572768"/>
            <a:ext cx="3361944" cy="2286000"/>
          </a:xfrm>
          <a:prstGeom prst="roundRect">
            <a:avLst>
              <a:gd name="adj" fmla="val 360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Text 3"/>
          <p:cNvSpPr/>
          <p:nvPr/>
        </p:nvSpPr>
        <p:spPr>
          <a:xfrm>
            <a:off x="640080" y="1847088"/>
            <a:ext cx="3361944" cy="868680"/>
          </a:xfrm>
          <a:prstGeom prst="rect">
            <a:avLst/>
          </a:prstGeom>
          <a:noFill/>
          <a:ln/>
        </p:spPr>
        <p:txBody>
          <a:bodyPr wrap="square" lIns="0" tIns="0" rIns="0" bIns="0" rtlCol="0" anchor="ctr"/>
          <a:lstStyle/>
          <a:p>
            <a:pPr algn="ctr" indent="0" marL="0">
              <a:buNone/>
            </a:pPr>
            <a:r>
              <a:rPr lang="en-US" sz="4200" b="1" dirty="0">
                <a:solidFill>
                  <a:srgbClr val="1C4A6E"/>
                </a:solidFill>
                <a:latin typeface="Cambria" pitchFamily="34" charset="0"/>
                <a:ea typeface="Cambria" pitchFamily="34" charset="-122"/>
                <a:cs typeface="Cambria" pitchFamily="34" charset="-120"/>
              </a:rPr>
              <a:t>$20k</a:t>
            </a:r>
            <a:endParaRPr lang="en-US" sz="4200" dirty="0"/>
          </a:p>
        </p:txBody>
      </p:sp>
      <p:sp>
        <p:nvSpPr>
          <p:cNvPr id="6" name="Text 4"/>
          <p:cNvSpPr/>
          <p:nvPr/>
        </p:nvSpPr>
        <p:spPr>
          <a:xfrm>
            <a:off x="896112" y="2743200"/>
            <a:ext cx="2849880" cy="868680"/>
          </a:xfrm>
          <a:prstGeom prst="rect">
            <a:avLst/>
          </a:prstGeom>
          <a:noFill/>
          <a:ln/>
        </p:spPr>
        <p:txBody>
          <a:bodyPr wrap="square" lIns="0" tIns="0" rIns="0" bIns="0" rtlCol="0" anchor="ctr"/>
          <a:lstStyle/>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Typical monthly AWS bill</a:t>
            </a:r>
            <a:endParaRPr lang="en-US" sz="1350" dirty="0"/>
          </a:p>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at a Series A startup</a:t>
            </a:r>
            <a:endParaRPr lang="en-US" sz="1350" dirty="0"/>
          </a:p>
        </p:txBody>
      </p:sp>
      <p:sp>
        <p:nvSpPr>
          <p:cNvPr id="7" name="Shape 5"/>
          <p:cNvSpPr/>
          <p:nvPr/>
        </p:nvSpPr>
        <p:spPr>
          <a:xfrm>
            <a:off x="4413504" y="1572768"/>
            <a:ext cx="3361944" cy="2286000"/>
          </a:xfrm>
          <a:prstGeom prst="roundRect">
            <a:avLst>
              <a:gd name="adj" fmla="val 360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8" name="Text 6"/>
          <p:cNvSpPr/>
          <p:nvPr/>
        </p:nvSpPr>
        <p:spPr>
          <a:xfrm>
            <a:off x="4413504" y="1847088"/>
            <a:ext cx="3361944" cy="868680"/>
          </a:xfrm>
          <a:prstGeom prst="rect">
            <a:avLst/>
          </a:prstGeom>
          <a:noFill/>
          <a:ln/>
        </p:spPr>
        <p:txBody>
          <a:bodyPr wrap="square" lIns="0" tIns="0" rIns="0" bIns="0" rtlCol="0" anchor="ctr"/>
          <a:lstStyle/>
          <a:p>
            <a:pPr algn="ctr" indent="0" marL="0">
              <a:buNone/>
            </a:pPr>
            <a:r>
              <a:rPr lang="en-US" sz="4200" b="1" dirty="0">
                <a:solidFill>
                  <a:srgbClr val="178C5F"/>
                </a:solidFill>
                <a:latin typeface="Cambria" pitchFamily="34" charset="0"/>
                <a:ea typeface="Cambria" pitchFamily="34" charset="-122"/>
                <a:cs typeface="Cambria" pitchFamily="34" charset="-120"/>
              </a:rPr>
              <a:t>20–35%</a:t>
            </a:r>
            <a:endParaRPr lang="en-US" sz="4200" dirty="0"/>
          </a:p>
        </p:txBody>
      </p:sp>
      <p:sp>
        <p:nvSpPr>
          <p:cNvPr id="9" name="Text 7"/>
          <p:cNvSpPr/>
          <p:nvPr/>
        </p:nvSpPr>
        <p:spPr>
          <a:xfrm>
            <a:off x="4669536" y="2743200"/>
            <a:ext cx="2849880" cy="868680"/>
          </a:xfrm>
          <a:prstGeom prst="rect">
            <a:avLst/>
          </a:prstGeom>
          <a:noFill/>
          <a:ln/>
        </p:spPr>
        <p:txBody>
          <a:bodyPr wrap="square" lIns="0" tIns="0" rIns="0" bIns="0" rtlCol="0" anchor="ctr"/>
          <a:lstStyle/>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Of that spend is waste —</a:t>
            </a:r>
            <a:endParaRPr lang="en-US" sz="1350" dirty="0"/>
          </a:p>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not mistakes, just nobody's job</a:t>
            </a:r>
            <a:endParaRPr lang="en-US" sz="1350" dirty="0"/>
          </a:p>
        </p:txBody>
      </p:sp>
      <p:sp>
        <p:nvSpPr>
          <p:cNvPr id="10" name="Shape 8"/>
          <p:cNvSpPr/>
          <p:nvPr/>
        </p:nvSpPr>
        <p:spPr>
          <a:xfrm>
            <a:off x="8186928" y="1572768"/>
            <a:ext cx="3361944" cy="2286000"/>
          </a:xfrm>
          <a:prstGeom prst="roundRect">
            <a:avLst>
              <a:gd name="adj" fmla="val 360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1" name="Text 9"/>
          <p:cNvSpPr/>
          <p:nvPr/>
        </p:nvSpPr>
        <p:spPr>
          <a:xfrm>
            <a:off x="8186928" y="1847088"/>
            <a:ext cx="3361944" cy="868680"/>
          </a:xfrm>
          <a:prstGeom prst="rect">
            <a:avLst/>
          </a:prstGeom>
          <a:noFill/>
          <a:ln/>
        </p:spPr>
        <p:txBody>
          <a:bodyPr wrap="square" lIns="0" tIns="0" rIns="0" bIns="0" rtlCol="0" anchor="ctr"/>
          <a:lstStyle/>
          <a:p>
            <a:pPr algn="ctr" indent="0" marL="0">
              <a:buNone/>
            </a:pPr>
            <a:r>
              <a:rPr lang="en-US" sz="4200" b="1" dirty="0">
                <a:solidFill>
                  <a:srgbClr val="1C4A6E"/>
                </a:solidFill>
                <a:latin typeface="Cambria" pitchFamily="34" charset="0"/>
                <a:ea typeface="Cambria" pitchFamily="34" charset="-122"/>
                <a:cs typeface="Cambria" pitchFamily="34" charset="-120"/>
              </a:rPr>
              <a:t>$50–80k</a:t>
            </a:r>
            <a:endParaRPr lang="en-US" sz="4200" dirty="0"/>
          </a:p>
        </p:txBody>
      </p:sp>
      <p:sp>
        <p:nvSpPr>
          <p:cNvPr id="12" name="Text 10"/>
          <p:cNvSpPr/>
          <p:nvPr/>
        </p:nvSpPr>
        <p:spPr>
          <a:xfrm>
            <a:off x="8442960" y="2743200"/>
            <a:ext cx="2849880" cy="868680"/>
          </a:xfrm>
          <a:prstGeom prst="rect">
            <a:avLst/>
          </a:prstGeom>
          <a:noFill/>
          <a:ln/>
        </p:spPr>
        <p:txBody>
          <a:bodyPr wrap="square" lIns="0" tIns="0" rIns="0" bIns="0" rtlCol="0" anchor="ctr"/>
          <a:lstStyle/>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Recoverable every year,</a:t>
            </a:r>
            <a:endParaRPr lang="en-US" sz="1350" dirty="0"/>
          </a:p>
          <a:p>
            <a:pPr algn="ctr" indent="0" marL="0">
              <a:lnSpc>
                <a:spcPts val="1900"/>
              </a:lnSpc>
              <a:buNone/>
            </a:pPr>
            <a:r>
              <a:rPr lang="en-US" sz="1350" dirty="0">
                <a:solidFill>
                  <a:srgbClr val="5A7183"/>
                </a:solidFill>
                <a:latin typeface="Calibri" pitchFamily="34" charset="0"/>
                <a:ea typeface="Calibri" pitchFamily="34" charset="-122"/>
                <a:cs typeface="Calibri" pitchFamily="34" charset="-120"/>
              </a:rPr>
              <a:t>from one company</a:t>
            </a:r>
            <a:endParaRPr lang="en-US" sz="1350" dirty="0"/>
          </a:p>
        </p:txBody>
      </p:sp>
      <p:sp>
        <p:nvSpPr>
          <p:cNvPr id="13" name="Shape 11"/>
          <p:cNvSpPr/>
          <p:nvPr/>
        </p:nvSpPr>
        <p:spPr>
          <a:xfrm>
            <a:off x="640080" y="4160520"/>
            <a:ext cx="10908792" cy="1783080"/>
          </a:xfrm>
          <a:prstGeom prst="roundRect">
            <a:avLst>
              <a:gd name="adj" fmla="val 4615"/>
            </a:avLst>
          </a:prstGeom>
          <a:solidFill>
            <a:srgbClr val="0B1B2B"/>
          </a:solidFill>
          <a:ln w="12700">
            <a:solidFill>
              <a:srgbClr val="0B1B2B"/>
            </a:solidFill>
            <a:prstDash val="solid"/>
          </a:ln>
        </p:spPr>
      </p:sp>
      <p:sp>
        <p:nvSpPr>
          <p:cNvPr id="14" name="Text 12"/>
          <p:cNvSpPr/>
          <p:nvPr/>
        </p:nvSpPr>
        <p:spPr>
          <a:xfrm>
            <a:off x="1051560" y="4407408"/>
            <a:ext cx="3657600" cy="320040"/>
          </a:xfrm>
          <a:prstGeom prst="rect">
            <a:avLst/>
          </a:prstGeom>
          <a:noFill/>
          <a:ln/>
        </p:spPr>
        <p:txBody>
          <a:bodyPr wrap="square" lIns="0" tIns="0" rIns="0" bIns="0" rtlCol="0" anchor="ctr"/>
          <a:lstStyle/>
          <a:p>
            <a:pPr indent="0" marL="0">
              <a:buNone/>
            </a:pPr>
            <a:r>
              <a:rPr lang="en-US" sz="1200" b="1" spc="200" kern="0" dirty="0">
                <a:solidFill>
                  <a:srgbClr val="2ECC8F"/>
                </a:solidFill>
                <a:latin typeface="Calibri" pitchFamily="34" charset="0"/>
                <a:ea typeface="Calibri" pitchFamily="34" charset="-122"/>
                <a:cs typeface="Calibri" pitchFamily="34" charset="-120"/>
              </a:rPr>
              <a:t>Why it happens</a:t>
            </a:r>
            <a:endParaRPr lang="en-US" sz="1200" dirty="0"/>
          </a:p>
        </p:txBody>
      </p:sp>
      <p:sp>
        <p:nvSpPr>
          <p:cNvPr id="15" name="Text 13"/>
          <p:cNvSpPr/>
          <p:nvPr/>
        </p:nvSpPr>
        <p:spPr>
          <a:xfrm>
            <a:off x="1051560" y="4754880"/>
            <a:ext cx="10085832" cy="1005840"/>
          </a:xfrm>
          <a:prstGeom prst="rect">
            <a:avLst/>
          </a:prstGeom>
          <a:noFill/>
          <a:ln/>
        </p:spPr>
        <p:txBody>
          <a:bodyPr wrap="square" lIns="0" tIns="0" rIns="0" bIns="0" rtlCol="0" anchor="ctr"/>
          <a:lstStyle/>
          <a:p>
            <a:pPr indent="0" marL="0">
              <a:lnSpc>
                <a:spcPts val="2300"/>
              </a:lnSpc>
              <a:buNone/>
            </a:pPr>
            <a:r>
              <a:rPr lang="en-US" sz="1500" dirty="0">
                <a:solidFill>
                  <a:srgbClr val="C8D6E2"/>
                </a:solidFill>
                <a:latin typeface="Calibri" pitchFamily="34" charset="0"/>
                <a:ea typeface="Calibri" pitchFamily="34" charset="-122"/>
                <a:cs typeface="Calibri" pitchFamily="34" charset="-120"/>
              </a:rPr>
              <a:t>Nothing dramatic. A test server from last quarter nobody switched off. Storage left behind when a machine was deleted. Development environments running all night and all weekend for nobody. A discount programme the provider offers that nobody signed up for.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THE OPENING</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Their engineers could fix it. They won't.</a:t>
            </a:r>
            <a:endParaRPr lang="en-US" sz="3400" dirty="0"/>
          </a:p>
        </p:txBody>
      </p:sp>
      <p:sp>
        <p:nvSpPr>
          <p:cNvPr id="4" name="Shape 2"/>
          <p:cNvSpPr/>
          <p:nvPr/>
        </p:nvSpPr>
        <p:spPr>
          <a:xfrm>
            <a:off x="640080" y="1536192"/>
            <a:ext cx="5248656" cy="1572768"/>
          </a:xfrm>
          <a:prstGeom prst="roundRect">
            <a:avLst>
              <a:gd name="adj" fmla="val 5233"/>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Shape 3"/>
          <p:cNvSpPr/>
          <p:nvPr/>
        </p:nvSpPr>
        <p:spPr>
          <a:xfrm>
            <a:off x="932688" y="1865376"/>
            <a:ext cx="566928" cy="566928"/>
          </a:xfrm>
          <a:prstGeom prst="ellipse">
            <a:avLst/>
          </a:prstGeom>
          <a:solidFill>
            <a:srgbClr val="0B1B2B"/>
          </a:solidFill>
          <a:ln w="12700">
            <a:solidFill>
              <a:srgbClr val="0B1B2B"/>
            </a:solidFill>
            <a:prstDash val="solid"/>
          </a:ln>
        </p:spPr>
      </p:sp>
      <p:sp>
        <p:nvSpPr>
          <p:cNvPr id="6" name="Text 4"/>
          <p:cNvSpPr/>
          <p:nvPr/>
        </p:nvSpPr>
        <p:spPr>
          <a:xfrm>
            <a:off x="932688" y="1938528"/>
            <a:ext cx="566928" cy="384048"/>
          </a:xfrm>
          <a:prstGeom prst="rect">
            <a:avLst/>
          </a:prstGeom>
          <a:noFill/>
          <a:ln/>
        </p:spPr>
        <p:txBody>
          <a:bodyPr wrap="square" lIns="0" tIns="0" rIns="0" bIns="0" rtlCol="0" anchor="ctr"/>
          <a:lstStyle/>
          <a:p>
            <a:pPr algn="ctr" indent="0" marL="0">
              <a:buNone/>
            </a:pPr>
            <a:r>
              <a:rPr lang="en-US" sz="2000" b="1" dirty="0">
                <a:solidFill>
                  <a:srgbClr val="2ECC8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64208" y="1810512"/>
            <a:ext cx="3922776" cy="347472"/>
          </a:xfrm>
          <a:prstGeom prst="rect">
            <a:avLst/>
          </a:prstGeom>
          <a:noFill/>
          <a:ln/>
        </p:spPr>
        <p:txBody>
          <a:bodyPr wrap="square" lIns="0" tIns="0" rIns="0" bIns="0" rtlCol="0" anchor="ctr"/>
          <a:lstStyle/>
          <a:p>
            <a:pPr indent="0" marL="0">
              <a:buNone/>
            </a:pPr>
            <a:r>
              <a:rPr lang="en-US" sz="1650" b="1" dirty="0">
                <a:solidFill>
                  <a:srgbClr val="0B1B2B"/>
                </a:solidFill>
                <a:latin typeface="Calibri" pitchFamily="34" charset="0"/>
                <a:ea typeface="Calibri" pitchFamily="34" charset="-122"/>
                <a:cs typeface="Calibri" pitchFamily="34" charset="-120"/>
              </a:rPr>
              <a:t>Nobody owns the bill</a:t>
            </a:r>
            <a:endParaRPr lang="en-US" sz="1650" dirty="0"/>
          </a:p>
        </p:txBody>
      </p:sp>
      <p:sp>
        <p:nvSpPr>
          <p:cNvPr id="8" name="Text 6"/>
          <p:cNvSpPr/>
          <p:nvPr/>
        </p:nvSpPr>
        <p:spPr>
          <a:xfrm>
            <a:off x="1664208" y="2194560"/>
            <a:ext cx="3922776" cy="777240"/>
          </a:xfrm>
          <a:prstGeom prst="rect">
            <a:avLst/>
          </a:prstGeom>
          <a:noFill/>
          <a:ln/>
        </p:spPr>
        <p:txBody>
          <a:bodyPr wrap="square" lIns="0" tIns="0" rIns="0" bIns="0" rtlCol="0" anchor="ctr"/>
          <a:lstStyle/>
          <a:p>
            <a:pPr indent="0" marL="0">
              <a:lnSpc>
                <a:spcPts val="1700"/>
              </a:lnSpc>
              <a:buNone/>
            </a:pPr>
            <a:r>
              <a:rPr lang="en-US" sz="1250" dirty="0">
                <a:solidFill>
                  <a:srgbClr val="5A7183"/>
                </a:solidFill>
                <a:latin typeface="Calibri" pitchFamily="34" charset="0"/>
                <a:ea typeface="Calibri" pitchFamily="34" charset="-122"/>
                <a:cs typeface="Calibri" pitchFamily="34" charset="-120"/>
              </a:rPr>
              <a:t>It arrives, the boss winces, everyone moves on. It is no single person's responsibility, so it is nobody's.</a:t>
            </a:r>
            <a:endParaRPr lang="en-US" sz="1250" dirty="0"/>
          </a:p>
        </p:txBody>
      </p:sp>
      <p:sp>
        <p:nvSpPr>
          <p:cNvPr id="9" name="Shape 7"/>
          <p:cNvSpPr/>
          <p:nvPr/>
        </p:nvSpPr>
        <p:spPr>
          <a:xfrm>
            <a:off x="6300216" y="1536192"/>
            <a:ext cx="5248656" cy="1572768"/>
          </a:xfrm>
          <a:prstGeom prst="roundRect">
            <a:avLst>
              <a:gd name="adj" fmla="val 5233"/>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0" name="Shape 8"/>
          <p:cNvSpPr/>
          <p:nvPr/>
        </p:nvSpPr>
        <p:spPr>
          <a:xfrm>
            <a:off x="6592824" y="1865376"/>
            <a:ext cx="566928" cy="566928"/>
          </a:xfrm>
          <a:prstGeom prst="ellipse">
            <a:avLst/>
          </a:prstGeom>
          <a:solidFill>
            <a:srgbClr val="0B1B2B"/>
          </a:solidFill>
          <a:ln w="12700">
            <a:solidFill>
              <a:srgbClr val="0B1B2B"/>
            </a:solidFill>
            <a:prstDash val="solid"/>
          </a:ln>
        </p:spPr>
      </p:sp>
      <p:sp>
        <p:nvSpPr>
          <p:cNvPr id="11" name="Text 9"/>
          <p:cNvSpPr/>
          <p:nvPr/>
        </p:nvSpPr>
        <p:spPr>
          <a:xfrm>
            <a:off x="6592824" y="1938528"/>
            <a:ext cx="566928" cy="384048"/>
          </a:xfrm>
          <a:prstGeom prst="rect">
            <a:avLst/>
          </a:prstGeom>
          <a:noFill/>
          <a:ln/>
        </p:spPr>
        <p:txBody>
          <a:bodyPr wrap="square" lIns="0" tIns="0" rIns="0" bIns="0" rtlCol="0" anchor="ctr"/>
          <a:lstStyle/>
          <a:p>
            <a:pPr algn="ctr" indent="0" marL="0">
              <a:buNone/>
            </a:pPr>
            <a:r>
              <a:rPr lang="en-US" sz="2000" b="1" dirty="0">
                <a:solidFill>
                  <a:srgbClr val="2ECC8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7324344" y="1810512"/>
            <a:ext cx="3922776" cy="347472"/>
          </a:xfrm>
          <a:prstGeom prst="rect">
            <a:avLst/>
          </a:prstGeom>
          <a:noFill/>
          <a:ln/>
        </p:spPr>
        <p:txBody>
          <a:bodyPr wrap="square" lIns="0" tIns="0" rIns="0" bIns="0" rtlCol="0" anchor="ctr"/>
          <a:lstStyle/>
          <a:p>
            <a:pPr indent="0" marL="0">
              <a:buNone/>
            </a:pPr>
            <a:r>
              <a:rPr lang="en-US" sz="1650" b="1" dirty="0">
                <a:solidFill>
                  <a:srgbClr val="0B1B2B"/>
                </a:solidFill>
                <a:latin typeface="Calibri" pitchFamily="34" charset="0"/>
                <a:ea typeface="Calibri" pitchFamily="34" charset="-122"/>
                <a:cs typeface="Calibri" pitchFamily="34" charset="-120"/>
              </a:rPr>
              <a:t>It is never this sprint's priority</a:t>
            </a:r>
            <a:endParaRPr lang="en-US" sz="1650" dirty="0"/>
          </a:p>
        </p:txBody>
      </p:sp>
      <p:sp>
        <p:nvSpPr>
          <p:cNvPr id="13" name="Text 11"/>
          <p:cNvSpPr/>
          <p:nvPr/>
        </p:nvSpPr>
        <p:spPr>
          <a:xfrm>
            <a:off x="7324344" y="2194560"/>
            <a:ext cx="3922776" cy="777240"/>
          </a:xfrm>
          <a:prstGeom prst="rect">
            <a:avLst/>
          </a:prstGeom>
          <a:noFill/>
          <a:ln/>
        </p:spPr>
        <p:txBody>
          <a:bodyPr wrap="square" lIns="0" tIns="0" rIns="0" bIns="0" rtlCol="0" anchor="ctr"/>
          <a:lstStyle/>
          <a:p>
            <a:pPr indent="0" marL="0">
              <a:lnSpc>
                <a:spcPts val="1700"/>
              </a:lnSpc>
              <a:buNone/>
            </a:pPr>
            <a:r>
              <a:rPr lang="en-US" sz="1250" dirty="0">
                <a:solidFill>
                  <a:srgbClr val="5A7183"/>
                </a:solidFill>
                <a:latin typeface="Calibri" pitchFamily="34" charset="0"/>
                <a:ea typeface="Calibri" pitchFamily="34" charset="-122"/>
                <a:cs typeface="Calibri" pitchFamily="34" charset="-120"/>
              </a:rPr>
              <a:t>Every engineer is shipping features customers asked for. Cleanup always loses that argument, every single week.</a:t>
            </a:r>
            <a:endParaRPr lang="en-US" sz="1250" dirty="0"/>
          </a:p>
        </p:txBody>
      </p:sp>
      <p:sp>
        <p:nvSpPr>
          <p:cNvPr id="14" name="Shape 12"/>
          <p:cNvSpPr/>
          <p:nvPr/>
        </p:nvSpPr>
        <p:spPr>
          <a:xfrm>
            <a:off x="640080" y="3401568"/>
            <a:ext cx="5248656" cy="1572768"/>
          </a:xfrm>
          <a:prstGeom prst="roundRect">
            <a:avLst>
              <a:gd name="adj" fmla="val 5233"/>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5" name="Shape 13"/>
          <p:cNvSpPr/>
          <p:nvPr/>
        </p:nvSpPr>
        <p:spPr>
          <a:xfrm>
            <a:off x="932688" y="3730752"/>
            <a:ext cx="566928" cy="566928"/>
          </a:xfrm>
          <a:prstGeom prst="ellipse">
            <a:avLst/>
          </a:prstGeom>
          <a:solidFill>
            <a:srgbClr val="0B1B2B"/>
          </a:solidFill>
          <a:ln w="12700">
            <a:solidFill>
              <a:srgbClr val="0B1B2B"/>
            </a:solidFill>
            <a:prstDash val="solid"/>
          </a:ln>
        </p:spPr>
      </p:sp>
      <p:sp>
        <p:nvSpPr>
          <p:cNvPr id="16" name="Text 14"/>
          <p:cNvSpPr/>
          <p:nvPr/>
        </p:nvSpPr>
        <p:spPr>
          <a:xfrm>
            <a:off x="932688" y="3803904"/>
            <a:ext cx="566928" cy="384048"/>
          </a:xfrm>
          <a:prstGeom prst="rect">
            <a:avLst/>
          </a:prstGeom>
          <a:noFill/>
          <a:ln/>
        </p:spPr>
        <p:txBody>
          <a:bodyPr wrap="square" lIns="0" tIns="0" rIns="0" bIns="0" rtlCol="0" anchor="ctr"/>
          <a:lstStyle/>
          <a:p>
            <a:pPr algn="ctr" indent="0" marL="0">
              <a:buNone/>
            </a:pPr>
            <a:r>
              <a:rPr lang="en-US" sz="2000" b="1" dirty="0">
                <a:solidFill>
                  <a:srgbClr val="2ECC8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64208" y="3675888"/>
            <a:ext cx="3922776" cy="347472"/>
          </a:xfrm>
          <a:prstGeom prst="rect">
            <a:avLst/>
          </a:prstGeom>
          <a:noFill/>
          <a:ln/>
        </p:spPr>
        <p:txBody>
          <a:bodyPr wrap="square" lIns="0" tIns="0" rIns="0" bIns="0" rtlCol="0" anchor="ctr"/>
          <a:lstStyle/>
          <a:p>
            <a:pPr indent="0" marL="0">
              <a:buNone/>
            </a:pPr>
            <a:r>
              <a:rPr lang="en-US" sz="1650" b="1" dirty="0">
                <a:solidFill>
                  <a:srgbClr val="0B1B2B"/>
                </a:solidFill>
                <a:latin typeface="Calibri" pitchFamily="34" charset="0"/>
                <a:ea typeface="Calibri" pitchFamily="34" charset="-122"/>
                <a:cs typeface="Calibri" pitchFamily="34" charset="-120"/>
              </a:rPr>
              <a:t>Nobody gets promoted for it</a:t>
            </a:r>
            <a:endParaRPr lang="en-US" sz="1650" dirty="0"/>
          </a:p>
        </p:txBody>
      </p:sp>
      <p:sp>
        <p:nvSpPr>
          <p:cNvPr id="18" name="Text 16"/>
          <p:cNvSpPr/>
          <p:nvPr/>
        </p:nvSpPr>
        <p:spPr>
          <a:xfrm>
            <a:off x="1664208" y="4059936"/>
            <a:ext cx="3922776" cy="777240"/>
          </a:xfrm>
          <a:prstGeom prst="rect">
            <a:avLst/>
          </a:prstGeom>
          <a:noFill/>
          <a:ln/>
        </p:spPr>
        <p:txBody>
          <a:bodyPr wrap="square" lIns="0" tIns="0" rIns="0" bIns="0" rtlCol="0" anchor="ctr"/>
          <a:lstStyle/>
          <a:p>
            <a:pPr indent="0" marL="0">
              <a:lnSpc>
                <a:spcPts val="1700"/>
              </a:lnSpc>
              <a:buNone/>
            </a:pPr>
            <a:r>
              <a:rPr lang="en-US" sz="1250" dirty="0">
                <a:solidFill>
                  <a:srgbClr val="5A7183"/>
                </a:solidFill>
                <a:latin typeface="Calibri" pitchFamily="34" charset="0"/>
                <a:ea typeface="Calibri" pitchFamily="34" charset="-122"/>
                <a:cs typeface="Calibri" pitchFamily="34" charset="-120"/>
              </a:rPr>
              <a:t>You get promoted for launching things. There is no career reward anywhere for making the bill smaller.</a:t>
            </a:r>
            <a:endParaRPr lang="en-US" sz="1250" dirty="0"/>
          </a:p>
        </p:txBody>
      </p:sp>
      <p:sp>
        <p:nvSpPr>
          <p:cNvPr id="19" name="Shape 17"/>
          <p:cNvSpPr/>
          <p:nvPr/>
        </p:nvSpPr>
        <p:spPr>
          <a:xfrm>
            <a:off x="6300216" y="3401568"/>
            <a:ext cx="5248656" cy="1572768"/>
          </a:xfrm>
          <a:prstGeom prst="roundRect">
            <a:avLst>
              <a:gd name="adj" fmla="val 5233"/>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20" name="Shape 18"/>
          <p:cNvSpPr/>
          <p:nvPr/>
        </p:nvSpPr>
        <p:spPr>
          <a:xfrm>
            <a:off x="6592824" y="3730752"/>
            <a:ext cx="566928" cy="566928"/>
          </a:xfrm>
          <a:prstGeom prst="ellipse">
            <a:avLst/>
          </a:prstGeom>
          <a:solidFill>
            <a:srgbClr val="0B1B2B"/>
          </a:solidFill>
          <a:ln w="12700">
            <a:solidFill>
              <a:srgbClr val="0B1B2B"/>
            </a:solidFill>
            <a:prstDash val="solid"/>
          </a:ln>
        </p:spPr>
      </p:sp>
      <p:sp>
        <p:nvSpPr>
          <p:cNvPr id="21" name="Text 19"/>
          <p:cNvSpPr/>
          <p:nvPr/>
        </p:nvSpPr>
        <p:spPr>
          <a:xfrm>
            <a:off x="6592824" y="3803904"/>
            <a:ext cx="566928" cy="384048"/>
          </a:xfrm>
          <a:prstGeom prst="rect">
            <a:avLst/>
          </a:prstGeom>
          <a:noFill/>
          <a:ln/>
        </p:spPr>
        <p:txBody>
          <a:bodyPr wrap="square" lIns="0" tIns="0" rIns="0" bIns="0" rtlCol="0" anchor="ctr"/>
          <a:lstStyle/>
          <a:p>
            <a:pPr algn="ctr" indent="0" marL="0">
              <a:buNone/>
            </a:pPr>
            <a:r>
              <a:rPr lang="en-US" sz="2000" b="1" dirty="0">
                <a:solidFill>
                  <a:srgbClr val="2ECC8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324344" y="3675888"/>
            <a:ext cx="3922776" cy="347472"/>
          </a:xfrm>
          <a:prstGeom prst="rect">
            <a:avLst/>
          </a:prstGeom>
          <a:noFill/>
          <a:ln/>
        </p:spPr>
        <p:txBody>
          <a:bodyPr wrap="square" lIns="0" tIns="0" rIns="0" bIns="0" rtlCol="0" anchor="ctr"/>
          <a:lstStyle/>
          <a:p>
            <a:pPr indent="0" marL="0">
              <a:buNone/>
            </a:pPr>
            <a:r>
              <a:rPr lang="en-US" sz="1650" b="1" dirty="0">
                <a:solidFill>
                  <a:srgbClr val="0B1B2B"/>
                </a:solidFill>
                <a:latin typeface="Calibri" pitchFamily="34" charset="0"/>
                <a:ea typeface="Calibri" pitchFamily="34" charset="-122"/>
                <a:cs typeface="Calibri" pitchFamily="34" charset="-120"/>
              </a:rPr>
              <a:t>Deleting things is frightening</a:t>
            </a:r>
            <a:endParaRPr lang="en-US" sz="1650" dirty="0"/>
          </a:p>
        </p:txBody>
      </p:sp>
      <p:sp>
        <p:nvSpPr>
          <p:cNvPr id="23" name="Text 21"/>
          <p:cNvSpPr/>
          <p:nvPr/>
        </p:nvSpPr>
        <p:spPr>
          <a:xfrm>
            <a:off x="7324344" y="4059936"/>
            <a:ext cx="3922776" cy="777240"/>
          </a:xfrm>
          <a:prstGeom prst="rect">
            <a:avLst/>
          </a:prstGeom>
          <a:noFill/>
          <a:ln/>
        </p:spPr>
        <p:txBody>
          <a:bodyPr wrap="square" lIns="0" tIns="0" rIns="0" bIns="0" rtlCol="0" anchor="ctr"/>
          <a:lstStyle/>
          <a:p>
            <a:pPr indent="0" marL="0">
              <a:lnSpc>
                <a:spcPts val="1700"/>
              </a:lnSpc>
              <a:buNone/>
            </a:pPr>
            <a:r>
              <a:rPr lang="en-US" sz="1250" dirty="0">
                <a:solidFill>
                  <a:srgbClr val="5A7183"/>
                </a:solidFill>
                <a:latin typeface="Calibri" pitchFamily="34" charset="0"/>
                <a:ea typeface="Calibri" pitchFamily="34" charset="-122"/>
                <a:cs typeface="Calibri" pitchFamily="34" charset="-120"/>
              </a:rPr>
              <a:t>"Is this still in use? Who made it? If I remove it and the product breaks at 3am, is that on me?" So it stays.</a:t>
            </a:r>
            <a:endParaRPr lang="en-US" sz="1250" dirty="0"/>
          </a:p>
        </p:txBody>
      </p:sp>
      <p:sp>
        <p:nvSpPr>
          <p:cNvPr id="24" name="Text 22"/>
          <p:cNvSpPr/>
          <p:nvPr/>
        </p:nvSpPr>
        <p:spPr>
          <a:xfrm>
            <a:off x="640080" y="5285232"/>
            <a:ext cx="10908792" cy="457200"/>
          </a:xfrm>
          <a:prstGeom prst="rect">
            <a:avLst/>
          </a:prstGeom>
          <a:noFill/>
          <a:ln/>
        </p:spPr>
        <p:txBody>
          <a:bodyPr wrap="square" lIns="0" tIns="0" rIns="0" bIns="0" rtlCol="0" anchor="ctr"/>
          <a:lstStyle/>
          <a:p>
            <a:pPr algn="ctr" indent="0" marL="0">
              <a:buNone/>
            </a:pPr>
            <a:r>
              <a:rPr lang="en-US" sz="1550" b="1" i="1" dirty="0">
                <a:solidFill>
                  <a:srgbClr val="178C5F"/>
                </a:solidFill>
                <a:latin typeface="Calibri" pitchFamily="34" charset="0"/>
                <a:ea typeface="Calibri" pitchFamily="34" charset="-122"/>
                <a:cs typeface="Calibri" pitchFamily="34" charset="-120"/>
              </a:rPr>
              <a:t>This is the opening. The problem is not a lack of skill — it is that fixing it is somebody's risk and nobody's reward.</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POSITIONING</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We sell found money, not cloud efficiency</a:t>
            </a:r>
            <a:endParaRPr lang="en-US" sz="3400" dirty="0"/>
          </a:p>
        </p:txBody>
      </p:sp>
      <p:sp>
        <p:nvSpPr>
          <p:cNvPr id="4" name="Shape 2"/>
          <p:cNvSpPr/>
          <p:nvPr/>
        </p:nvSpPr>
        <p:spPr>
          <a:xfrm>
            <a:off x="640080" y="1554480"/>
            <a:ext cx="5248656" cy="3246120"/>
          </a:xfrm>
          <a:prstGeom prst="roundRect">
            <a:avLst>
              <a:gd name="adj" fmla="val 2817"/>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Text 3"/>
          <p:cNvSpPr/>
          <p:nvPr/>
        </p:nvSpPr>
        <p:spPr>
          <a:xfrm>
            <a:off x="1051560" y="1783080"/>
            <a:ext cx="4425696" cy="274320"/>
          </a:xfrm>
          <a:prstGeom prst="rect">
            <a:avLst/>
          </a:prstGeom>
          <a:noFill/>
          <a:ln/>
        </p:spPr>
        <p:txBody>
          <a:bodyPr wrap="square" lIns="0" tIns="0" rIns="0" bIns="0" rtlCol="0" anchor="ctr"/>
          <a:lstStyle/>
          <a:p>
            <a:pPr indent="0" marL="0">
              <a:buNone/>
            </a:pPr>
            <a:r>
              <a:rPr lang="en-US" sz="1150" b="1" spc="150" kern="0" dirty="0">
                <a:solidFill>
                  <a:srgbClr val="5A7183"/>
                </a:solidFill>
                <a:latin typeface="Calibri" pitchFamily="34" charset="0"/>
                <a:ea typeface="Calibri" pitchFamily="34" charset="-122"/>
                <a:cs typeface="Calibri" pitchFamily="34" charset="-120"/>
              </a:rPr>
              <a:t>What everyone else pitches</a:t>
            </a:r>
            <a:endParaRPr lang="en-US" sz="1150" dirty="0"/>
          </a:p>
        </p:txBody>
      </p:sp>
      <p:sp>
        <p:nvSpPr>
          <p:cNvPr id="6" name="Text 4"/>
          <p:cNvSpPr/>
          <p:nvPr/>
        </p:nvSpPr>
        <p:spPr>
          <a:xfrm>
            <a:off x="1051560" y="2103120"/>
            <a:ext cx="4425696" cy="457200"/>
          </a:xfrm>
          <a:prstGeom prst="rect">
            <a:avLst/>
          </a:prstGeom>
          <a:noFill/>
          <a:ln/>
        </p:spPr>
        <p:txBody>
          <a:bodyPr wrap="square" lIns="0" tIns="0" rIns="0" bIns="0" rtlCol="0" anchor="ctr"/>
          <a:lstStyle/>
          <a:p>
            <a:pPr indent="0" marL="0">
              <a:buNone/>
            </a:pPr>
            <a:r>
              <a:rPr lang="en-US" sz="2600" b="1" dirty="0">
                <a:solidFill>
                  <a:srgbClr val="A03A3A"/>
                </a:solidFill>
                <a:latin typeface="Cambria" pitchFamily="34" charset="0"/>
                <a:ea typeface="Cambria" pitchFamily="34" charset="-122"/>
                <a:cs typeface="Cambria" pitchFamily="34" charset="-120"/>
              </a:rPr>
              <a:t>✕   "Cloud efficiency"</a:t>
            </a:r>
            <a:endParaRPr lang="en-US" sz="2600" dirty="0"/>
          </a:p>
        </p:txBody>
      </p:sp>
      <p:sp>
        <p:nvSpPr>
          <p:cNvPr id="7" name="Text 5"/>
          <p:cNvSpPr/>
          <p:nvPr/>
        </p:nvSpPr>
        <p:spPr>
          <a:xfrm>
            <a:off x="1097280" y="2697480"/>
            <a:ext cx="4379976" cy="2011680"/>
          </a:xfrm>
          <a:prstGeom prst="rect">
            <a:avLst/>
          </a:prstGeom>
          <a:noFill/>
          <a:ln/>
        </p:spPr>
        <p:txBody>
          <a:bodyPr wrap="square" lIns="0" tIns="0" rIns="0" bIns="0" rtlCol="0" anchor="ctr"/>
          <a:lstStyle/>
          <a:p>
            <a:pPr marL="342900" indent="-342900">
              <a:lnSpc>
                <a:spcPts val="1800"/>
              </a:lnSpc>
              <a:spcAft>
                <a:spcPts val="900"/>
              </a:spcAft>
              <a:buSzPct val="100000"/>
              <a:buChar char="•"/>
            </a:pPr>
            <a:r>
              <a:rPr lang="en-US" sz="1300" dirty="0">
                <a:solidFill>
                  <a:srgbClr val="5A7183"/>
                </a:solidFill>
                <a:latin typeface="Calibri" pitchFamily="34" charset="0"/>
                <a:ea typeface="Calibri" pitchFamily="34" charset="-122"/>
                <a:cs typeface="Calibri" pitchFamily="34" charset="-120"/>
              </a:rPr>
              <a:t>Abstract — nobody has an efficiency budget</a:t>
            </a:r>
            <a:endParaRPr lang="en-US" sz="1300" dirty="0"/>
          </a:p>
          <a:p>
            <a:pPr marL="342900" indent="-342900">
              <a:lnSpc>
                <a:spcPts val="1800"/>
              </a:lnSpc>
              <a:spcAft>
                <a:spcPts val="900"/>
              </a:spcAft>
              <a:buSzPct val="100000"/>
              <a:buChar char="•"/>
            </a:pPr>
            <a:r>
              <a:rPr lang="en-US" sz="1300" dirty="0">
                <a:solidFill>
                  <a:srgbClr val="5A7183"/>
                </a:solidFill>
                <a:latin typeface="Calibri" pitchFamily="34" charset="0"/>
                <a:ea typeface="Calibri" pitchFamily="34" charset="-122"/>
                <a:cs typeface="Calibri" pitchFamily="34" charset="-120"/>
              </a:rPr>
              <a:t>Sounds technical, so it routes to engineering</a:t>
            </a:r>
            <a:endParaRPr lang="en-US" sz="1300" dirty="0"/>
          </a:p>
          <a:p>
            <a:pPr marL="342900" indent="-342900">
              <a:lnSpc>
                <a:spcPts val="1800"/>
              </a:lnSpc>
              <a:spcAft>
                <a:spcPts val="900"/>
              </a:spcAft>
              <a:buSzPct val="100000"/>
              <a:buChar char="•"/>
            </a:pPr>
            <a:r>
              <a:rPr lang="en-US" sz="1300" dirty="0">
                <a:solidFill>
                  <a:srgbClr val="5A7183"/>
                </a:solidFill>
                <a:latin typeface="Calibri" pitchFamily="34" charset="0"/>
                <a:ea typeface="Calibri" pitchFamily="34" charset="-122"/>
                <a:cs typeface="Calibri" pitchFamily="34" charset="-120"/>
              </a:rPr>
              <a:t>Reads as a nice-to-have, and gets deferred</a:t>
            </a:r>
            <a:endParaRPr lang="en-US" sz="1300" dirty="0"/>
          </a:p>
          <a:p>
            <a:pPr marL="342900" indent="-342900">
              <a:lnSpc>
                <a:spcPts val="1800"/>
              </a:lnSpc>
              <a:spcAft>
                <a:spcPts val="900"/>
              </a:spcAft>
              <a:buSzPct val="100000"/>
              <a:buChar char="•"/>
            </a:pPr>
            <a:r>
              <a:rPr lang="en-US" sz="1300" dirty="0">
                <a:solidFill>
                  <a:srgbClr val="5A7183"/>
                </a:solidFill>
                <a:latin typeface="Calibri" pitchFamily="34" charset="0"/>
                <a:ea typeface="Calibri" pitchFamily="34" charset="-122"/>
                <a:cs typeface="Calibri" pitchFamily="34" charset="-120"/>
              </a:rPr>
              <a:t>Competes with the product roadmap and loses</a:t>
            </a:r>
            <a:endParaRPr lang="en-US" sz="1300" dirty="0"/>
          </a:p>
        </p:txBody>
      </p:sp>
      <p:sp>
        <p:nvSpPr>
          <p:cNvPr id="8" name="Shape 6"/>
          <p:cNvSpPr/>
          <p:nvPr/>
        </p:nvSpPr>
        <p:spPr>
          <a:xfrm>
            <a:off x="6300216" y="1554480"/>
            <a:ext cx="5248656" cy="3246120"/>
          </a:xfrm>
          <a:prstGeom prst="roundRect">
            <a:avLst>
              <a:gd name="adj" fmla="val 2817"/>
            </a:avLst>
          </a:prstGeom>
          <a:solidFill>
            <a:srgbClr val="0B1B2B"/>
          </a:solidFill>
          <a:ln w="12700">
            <a:solidFill>
              <a:srgbClr val="0B1B2B"/>
            </a:solidFill>
            <a:prstDash val="solid"/>
          </a:ln>
          <a:effectLst>
            <a:outerShdw sx="100000" sy="100000" kx="0" ky="0" algn="bl" rotWithShape="0" blurRad="152400" dist="38100" dir="5400000">
              <a:srgbClr val="9AAEC0">
                <a:alpha val="18000"/>
              </a:srgbClr>
            </a:outerShdw>
          </a:effectLst>
        </p:spPr>
      </p:sp>
      <p:sp>
        <p:nvSpPr>
          <p:cNvPr id="9" name="Text 7"/>
          <p:cNvSpPr/>
          <p:nvPr/>
        </p:nvSpPr>
        <p:spPr>
          <a:xfrm>
            <a:off x="6711696" y="1783080"/>
            <a:ext cx="4425696" cy="274320"/>
          </a:xfrm>
          <a:prstGeom prst="rect">
            <a:avLst/>
          </a:prstGeom>
          <a:noFill/>
          <a:ln/>
        </p:spPr>
        <p:txBody>
          <a:bodyPr wrap="square" lIns="0" tIns="0" rIns="0" bIns="0" rtlCol="0" anchor="ctr"/>
          <a:lstStyle/>
          <a:p>
            <a:pPr indent="0" marL="0">
              <a:buNone/>
            </a:pPr>
            <a:r>
              <a:rPr lang="en-US" sz="1150" b="1" spc="150" kern="0" dirty="0">
                <a:solidFill>
                  <a:srgbClr val="9DB2C4"/>
                </a:solidFill>
                <a:latin typeface="Calibri" pitchFamily="34" charset="0"/>
                <a:ea typeface="Calibri" pitchFamily="34" charset="-122"/>
                <a:cs typeface="Calibri" pitchFamily="34" charset="-120"/>
              </a:rPr>
              <a:t>What we pitch</a:t>
            </a:r>
            <a:endParaRPr lang="en-US" sz="1150" dirty="0"/>
          </a:p>
        </p:txBody>
      </p:sp>
      <p:sp>
        <p:nvSpPr>
          <p:cNvPr id="10" name="Text 8"/>
          <p:cNvSpPr/>
          <p:nvPr/>
        </p:nvSpPr>
        <p:spPr>
          <a:xfrm>
            <a:off x="6711696" y="2103120"/>
            <a:ext cx="4425696" cy="457200"/>
          </a:xfrm>
          <a:prstGeom prst="rect">
            <a:avLst/>
          </a:prstGeom>
          <a:noFill/>
          <a:ln/>
        </p:spPr>
        <p:txBody>
          <a:bodyPr wrap="square" lIns="0" tIns="0" rIns="0" bIns="0" rtlCol="0" anchor="ctr"/>
          <a:lstStyle/>
          <a:p>
            <a:pPr indent="0" marL="0">
              <a:buNone/>
            </a:pPr>
            <a:r>
              <a:rPr lang="en-US" sz="2600" b="1" dirty="0">
                <a:solidFill>
                  <a:srgbClr val="2ECC8F"/>
                </a:solidFill>
                <a:latin typeface="Cambria" pitchFamily="34" charset="0"/>
                <a:ea typeface="Cambria" pitchFamily="34" charset="-122"/>
                <a:cs typeface="Cambria" pitchFamily="34" charset="-120"/>
              </a:rPr>
              <a:t>✓   "Found money"</a:t>
            </a:r>
            <a:endParaRPr lang="en-US" sz="2600" dirty="0"/>
          </a:p>
        </p:txBody>
      </p:sp>
      <p:sp>
        <p:nvSpPr>
          <p:cNvPr id="11" name="Text 9"/>
          <p:cNvSpPr/>
          <p:nvPr/>
        </p:nvSpPr>
        <p:spPr>
          <a:xfrm>
            <a:off x="6757416" y="2697480"/>
            <a:ext cx="4379976" cy="2011680"/>
          </a:xfrm>
          <a:prstGeom prst="rect">
            <a:avLst/>
          </a:prstGeom>
          <a:noFill/>
          <a:ln/>
        </p:spPr>
        <p:txBody>
          <a:bodyPr wrap="square" lIns="0" tIns="0" rIns="0" bIns="0" rtlCol="0" anchor="ctr"/>
          <a:lstStyle/>
          <a:p>
            <a:pPr marL="342900" indent="-342900">
              <a:lnSpc>
                <a:spcPts val="1800"/>
              </a:lnSpc>
              <a:spcAft>
                <a:spcPts val="900"/>
              </a:spcAft>
              <a:buSzPct val="100000"/>
              <a:buChar char="•"/>
            </a:pPr>
            <a:r>
              <a:rPr lang="en-US" sz="1300" dirty="0">
                <a:solidFill>
                  <a:srgbClr val="C8D6E2"/>
                </a:solidFill>
                <a:latin typeface="Calibri" pitchFamily="34" charset="0"/>
                <a:ea typeface="Calibri" pitchFamily="34" charset="-122"/>
                <a:cs typeface="Calibri" pitchFamily="34" charset="-120"/>
              </a:rPr>
              <a:t>Concrete — a number with a currency sign</a:t>
            </a:r>
            <a:endParaRPr lang="en-US" sz="1300" dirty="0"/>
          </a:p>
          <a:p>
            <a:pPr marL="342900" indent="-342900">
              <a:lnSpc>
                <a:spcPts val="1800"/>
              </a:lnSpc>
              <a:spcAft>
                <a:spcPts val="900"/>
              </a:spcAft>
              <a:buSzPct val="100000"/>
              <a:buChar char="•"/>
            </a:pPr>
            <a:r>
              <a:rPr lang="en-US" sz="1300" dirty="0">
                <a:solidFill>
                  <a:srgbClr val="C8D6E2"/>
                </a:solidFill>
                <a:latin typeface="Calibri" pitchFamily="34" charset="0"/>
                <a:ea typeface="Calibri" pitchFamily="34" charset="-122"/>
                <a:cs typeface="Calibri" pitchFamily="34" charset="-120"/>
              </a:rPr>
              <a:t>Financial, so the founder engages directly</a:t>
            </a:r>
            <a:endParaRPr lang="en-US" sz="1300" dirty="0"/>
          </a:p>
          <a:p>
            <a:pPr marL="342900" indent="-342900">
              <a:lnSpc>
                <a:spcPts val="1800"/>
              </a:lnSpc>
              <a:spcAft>
                <a:spcPts val="900"/>
              </a:spcAft>
              <a:buSzPct val="100000"/>
              <a:buChar char="•"/>
            </a:pPr>
            <a:r>
              <a:rPr lang="en-US" sz="1300" dirty="0">
                <a:solidFill>
                  <a:srgbClr val="C8D6E2"/>
                </a:solidFill>
                <a:latin typeface="Calibri" pitchFamily="34" charset="0"/>
                <a:ea typeface="Calibri" pitchFamily="34" charset="-122"/>
                <a:cs typeface="Calibri" pitchFamily="34" charset="-120"/>
              </a:rPr>
              <a:t>Pays for itself, so approval is trivial</a:t>
            </a:r>
            <a:endParaRPr lang="en-US" sz="1300" dirty="0"/>
          </a:p>
          <a:p>
            <a:pPr marL="342900" indent="-342900">
              <a:lnSpc>
                <a:spcPts val="1800"/>
              </a:lnSpc>
              <a:spcAft>
                <a:spcPts val="900"/>
              </a:spcAft>
              <a:buSzPct val="100000"/>
              <a:buChar char="•"/>
            </a:pPr>
            <a:r>
              <a:rPr lang="en-US" sz="1300" dirty="0">
                <a:solidFill>
                  <a:srgbClr val="C8D6E2"/>
                </a:solidFill>
                <a:latin typeface="Calibri" pitchFamily="34" charset="0"/>
                <a:ea typeface="Calibri" pitchFamily="34" charset="-122"/>
                <a:cs typeface="Calibri" pitchFamily="34" charset="-120"/>
              </a:rPr>
              <a:t>Extends runway, which is the only metric that matters</a:t>
            </a:r>
            <a:endParaRPr lang="en-US" sz="1300" dirty="0"/>
          </a:p>
        </p:txBody>
      </p:sp>
      <p:sp>
        <p:nvSpPr>
          <p:cNvPr id="12" name="Shape 10"/>
          <p:cNvSpPr/>
          <p:nvPr/>
        </p:nvSpPr>
        <p:spPr>
          <a:xfrm>
            <a:off x="640080" y="5047488"/>
            <a:ext cx="10908792" cy="914400"/>
          </a:xfrm>
          <a:prstGeom prst="roundRect">
            <a:avLst>
              <a:gd name="adj" fmla="val 9000"/>
            </a:avLst>
          </a:prstGeom>
          <a:solidFill>
            <a:srgbClr val="E4F5EC"/>
          </a:solidFill>
          <a:ln w="15875">
            <a:solidFill>
              <a:srgbClr val="2ECC8F"/>
            </a:solidFill>
            <a:prstDash val="solid"/>
          </a:ln>
        </p:spPr>
      </p:sp>
      <p:sp>
        <p:nvSpPr>
          <p:cNvPr id="13" name="Text 11"/>
          <p:cNvSpPr/>
          <p:nvPr/>
        </p:nvSpPr>
        <p:spPr>
          <a:xfrm>
            <a:off x="640080" y="5276088"/>
            <a:ext cx="10908792" cy="457200"/>
          </a:xfrm>
          <a:prstGeom prst="rect">
            <a:avLst/>
          </a:prstGeom>
          <a:noFill/>
          <a:ln/>
        </p:spPr>
        <p:txBody>
          <a:bodyPr wrap="square" lIns="0" tIns="0" rIns="0" bIns="0" rtlCol="0" anchor="ctr"/>
          <a:lstStyle/>
          <a:p>
            <a:pPr algn="ctr" indent="0" marL="0">
              <a:buNone/>
            </a:pPr>
            <a:r>
              <a:rPr lang="en-US" sz="1650" b="1" dirty="0">
                <a:solidFill>
                  <a:srgbClr val="178C5F"/>
                </a:solidFill>
                <a:latin typeface="Calibri" pitchFamily="34" charset="0"/>
                <a:ea typeface="Calibri" pitchFamily="34" charset="-122"/>
                <a:cs typeface="Calibri" pitchFamily="34" charset="-120"/>
              </a:rPr>
              <a:t>Same work. Same result. One of these gets a meeting and the other gets ignored.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Three places the money hides</a:t>
            </a:r>
            <a:endParaRPr lang="en-US" sz="3400" dirty="0"/>
          </a:p>
        </p:txBody>
      </p:sp>
      <p:sp>
        <p:nvSpPr>
          <p:cNvPr id="4" name="Shape 2"/>
          <p:cNvSpPr/>
          <p:nvPr/>
        </p:nvSpPr>
        <p:spPr>
          <a:xfrm>
            <a:off x="640080" y="1536192"/>
            <a:ext cx="3361944" cy="3675888"/>
          </a:xfrm>
          <a:prstGeom prst="roundRect">
            <a:avLst>
              <a:gd name="adj" fmla="val 272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Text 3"/>
          <p:cNvSpPr/>
          <p:nvPr/>
        </p:nvSpPr>
        <p:spPr>
          <a:xfrm>
            <a:off x="950976" y="1773936"/>
            <a:ext cx="2740152" cy="292608"/>
          </a:xfrm>
          <a:prstGeom prst="rect">
            <a:avLst/>
          </a:prstGeom>
          <a:noFill/>
          <a:ln/>
        </p:spPr>
        <p:txBody>
          <a:bodyPr wrap="square" lIns="0" tIns="0" rIns="0" bIns="0" rtlCol="0" anchor="ctr"/>
          <a:lstStyle/>
          <a:p>
            <a:pPr indent="0" marL="0">
              <a:buNone/>
            </a:pPr>
            <a:r>
              <a:rPr lang="en-US" sz="1200" b="1" spc="150" kern="0" dirty="0">
                <a:solidFill>
                  <a:srgbClr val="178C5F"/>
                </a:solidFill>
                <a:latin typeface="Calibri" pitchFamily="34" charset="0"/>
                <a:ea typeface="Calibri" pitchFamily="34" charset="-122"/>
                <a:cs typeface="Calibri" pitchFamily="34" charset="-120"/>
              </a:rPr>
              <a:t>QUICK WINS</a:t>
            </a:r>
            <a:endParaRPr lang="en-US" sz="1200" dirty="0"/>
          </a:p>
        </p:txBody>
      </p:sp>
      <p:sp>
        <p:nvSpPr>
          <p:cNvPr id="6" name="Text 4"/>
          <p:cNvSpPr/>
          <p:nvPr/>
        </p:nvSpPr>
        <p:spPr>
          <a:xfrm>
            <a:off x="950976" y="2066544"/>
            <a:ext cx="2740152" cy="256032"/>
          </a:xfrm>
          <a:prstGeom prst="rect">
            <a:avLst/>
          </a:prstGeom>
          <a:noFill/>
          <a:ln/>
        </p:spPr>
        <p:txBody>
          <a:bodyPr wrap="square" lIns="0" tIns="0" rIns="0" bIns="0" rtlCol="0" anchor="ctr"/>
          <a:lstStyle/>
          <a:p>
            <a:pPr indent="0" marL="0">
              <a:buNone/>
            </a:pPr>
            <a:r>
              <a:rPr lang="en-US" sz="1150" i="1" dirty="0">
                <a:solidFill>
                  <a:srgbClr val="5A7183"/>
                </a:solidFill>
                <a:latin typeface="Calibri" pitchFamily="34" charset="0"/>
                <a:ea typeface="Calibri" pitchFamily="34" charset="-122"/>
                <a:cs typeface="Calibri" pitchFamily="34" charset="-120"/>
              </a:rPr>
              <a:t>Zero risk · same week</a:t>
            </a:r>
            <a:endParaRPr lang="en-US" sz="1150" dirty="0"/>
          </a:p>
        </p:txBody>
      </p:sp>
      <p:sp>
        <p:nvSpPr>
          <p:cNvPr id="7" name="Text 5"/>
          <p:cNvSpPr/>
          <p:nvPr/>
        </p:nvSpPr>
        <p:spPr>
          <a:xfrm>
            <a:off x="987552" y="2450592"/>
            <a:ext cx="2703576" cy="19202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Storage left behind by deleted machines</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Backups kept forever with no expiry rule</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Logs retained indefinitely by default</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Idle network addresses still being billed</a:t>
            </a:r>
            <a:endParaRPr lang="en-US" sz="1250" dirty="0"/>
          </a:p>
        </p:txBody>
      </p:sp>
      <p:sp>
        <p:nvSpPr>
          <p:cNvPr id="8" name="Shape 6"/>
          <p:cNvSpPr/>
          <p:nvPr/>
        </p:nvSpPr>
        <p:spPr>
          <a:xfrm>
            <a:off x="950976" y="4526280"/>
            <a:ext cx="2740152" cy="457200"/>
          </a:xfrm>
          <a:prstGeom prst="roundRect">
            <a:avLst>
              <a:gd name="adj" fmla="val 14000"/>
            </a:avLst>
          </a:prstGeom>
          <a:solidFill>
            <a:srgbClr val="EDF3F8"/>
          </a:solidFill>
          <a:ln w="12700">
            <a:solidFill>
              <a:srgbClr val="EDF3F8"/>
            </a:solidFill>
            <a:prstDash val="solid"/>
          </a:ln>
        </p:spPr>
      </p:sp>
      <p:sp>
        <p:nvSpPr>
          <p:cNvPr id="9" name="Text 7"/>
          <p:cNvSpPr/>
          <p:nvPr/>
        </p:nvSpPr>
        <p:spPr>
          <a:xfrm>
            <a:off x="950976" y="4608576"/>
            <a:ext cx="2740152" cy="292608"/>
          </a:xfrm>
          <a:prstGeom prst="rect">
            <a:avLst/>
          </a:prstGeom>
          <a:noFill/>
          <a:ln/>
        </p:spPr>
        <p:txBody>
          <a:bodyPr wrap="square" lIns="0" tIns="0" rIns="0" bIns="0" rtlCol="0" anchor="ctr"/>
          <a:lstStyle/>
          <a:p>
            <a:pPr algn="ctr" indent="0" marL="0">
              <a:buNone/>
            </a:pPr>
            <a:r>
              <a:rPr lang="en-US" sz="1300" b="1" dirty="0">
                <a:solidFill>
                  <a:srgbClr val="178C5F"/>
                </a:solidFill>
                <a:latin typeface="Calibri" pitchFamily="34" charset="0"/>
                <a:ea typeface="Calibri" pitchFamily="34" charset="-122"/>
                <a:cs typeface="Calibri" pitchFamily="34" charset="-120"/>
              </a:rPr>
              <a:t>$500–3,000 / month</a:t>
            </a:r>
            <a:endParaRPr lang="en-US" sz="1300" dirty="0"/>
          </a:p>
        </p:txBody>
      </p:sp>
      <p:sp>
        <p:nvSpPr>
          <p:cNvPr id="10" name="Shape 8"/>
          <p:cNvSpPr/>
          <p:nvPr/>
        </p:nvSpPr>
        <p:spPr>
          <a:xfrm>
            <a:off x="4413504" y="1536192"/>
            <a:ext cx="3361944" cy="3675888"/>
          </a:xfrm>
          <a:prstGeom prst="roundRect">
            <a:avLst>
              <a:gd name="adj" fmla="val 272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1" name="Text 9"/>
          <p:cNvSpPr/>
          <p:nvPr/>
        </p:nvSpPr>
        <p:spPr>
          <a:xfrm>
            <a:off x="4724400" y="1773936"/>
            <a:ext cx="2740152" cy="292608"/>
          </a:xfrm>
          <a:prstGeom prst="rect">
            <a:avLst/>
          </a:prstGeom>
          <a:noFill/>
          <a:ln/>
        </p:spPr>
        <p:txBody>
          <a:bodyPr wrap="square" lIns="0" tIns="0" rIns="0" bIns="0" rtlCol="0" anchor="ctr"/>
          <a:lstStyle/>
          <a:p>
            <a:pPr indent="0" marL="0">
              <a:buNone/>
            </a:pPr>
            <a:r>
              <a:rPr lang="en-US" sz="1200" b="1" spc="150" kern="0" dirty="0">
                <a:solidFill>
                  <a:srgbClr val="1C4A6E"/>
                </a:solidFill>
                <a:latin typeface="Calibri" pitchFamily="34" charset="0"/>
                <a:ea typeface="Calibri" pitchFamily="34" charset="-122"/>
                <a:cs typeface="Calibri" pitchFamily="34" charset="-120"/>
              </a:rPr>
              <a:t>EXECUTION WINS</a:t>
            </a:r>
            <a:endParaRPr lang="en-US" sz="1200" dirty="0"/>
          </a:p>
        </p:txBody>
      </p:sp>
      <p:sp>
        <p:nvSpPr>
          <p:cNvPr id="12" name="Text 10"/>
          <p:cNvSpPr/>
          <p:nvPr/>
        </p:nvSpPr>
        <p:spPr>
          <a:xfrm>
            <a:off x="4724400" y="2066544"/>
            <a:ext cx="2740152" cy="256032"/>
          </a:xfrm>
          <a:prstGeom prst="rect">
            <a:avLst/>
          </a:prstGeom>
          <a:noFill/>
          <a:ln/>
        </p:spPr>
        <p:txBody>
          <a:bodyPr wrap="square" lIns="0" tIns="0" rIns="0" bIns="0" rtlCol="0" anchor="ctr"/>
          <a:lstStyle/>
          <a:p>
            <a:pPr indent="0" marL="0">
              <a:buNone/>
            </a:pPr>
            <a:r>
              <a:rPr lang="en-US" sz="1150" i="1" dirty="0">
                <a:solidFill>
                  <a:srgbClr val="5A7183"/>
                </a:solidFill>
                <a:latin typeface="Calibri" pitchFamily="34" charset="0"/>
                <a:ea typeface="Calibri" pitchFamily="34" charset="-122"/>
                <a:cs typeface="Calibri" pitchFamily="34" charset="-120"/>
              </a:rPr>
              <a:t>Low risk · scheduled window</a:t>
            </a:r>
            <a:endParaRPr lang="en-US" sz="1150" dirty="0"/>
          </a:p>
        </p:txBody>
      </p:sp>
      <p:sp>
        <p:nvSpPr>
          <p:cNvPr id="13" name="Text 11"/>
          <p:cNvSpPr/>
          <p:nvPr/>
        </p:nvSpPr>
        <p:spPr>
          <a:xfrm>
            <a:off x="4760976" y="2450592"/>
            <a:ext cx="2703576" cy="19202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Machines far larger than the work needs</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Test environments running nights + weekends</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Unclaimed volume discounts (up to 66% off)</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Older, pricier hardware generations</a:t>
            </a:r>
            <a:endParaRPr lang="en-US" sz="1250" dirty="0"/>
          </a:p>
        </p:txBody>
      </p:sp>
      <p:sp>
        <p:nvSpPr>
          <p:cNvPr id="14" name="Shape 12"/>
          <p:cNvSpPr/>
          <p:nvPr/>
        </p:nvSpPr>
        <p:spPr>
          <a:xfrm>
            <a:off x="4724400" y="4526280"/>
            <a:ext cx="2740152" cy="457200"/>
          </a:xfrm>
          <a:prstGeom prst="roundRect">
            <a:avLst>
              <a:gd name="adj" fmla="val 14000"/>
            </a:avLst>
          </a:prstGeom>
          <a:solidFill>
            <a:srgbClr val="EDF3F8"/>
          </a:solidFill>
          <a:ln w="12700">
            <a:solidFill>
              <a:srgbClr val="EDF3F8"/>
            </a:solidFill>
            <a:prstDash val="solid"/>
          </a:ln>
        </p:spPr>
      </p:sp>
      <p:sp>
        <p:nvSpPr>
          <p:cNvPr id="15" name="Text 13"/>
          <p:cNvSpPr/>
          <p:nvPr/>
        </p:nvSpPr>
        <p:spPr>
          <a:xfrm>
            <a:off x="4724400" y="4608576"/>
            <a:ext cx="2740152" cy="292608"/>
          </a:xfrm>
          <a:prstGeom prst="rect">
            <a:avLst/>
          </a:prstGeom>
          <a:noFill/>
          <a:ln/>
        </p:spPr>
        <p:txBody>
          <a:bodyPr wrap="square" lIns="0" tIns="0" rIns="0" bIns="0" rtlCol="0" anchor="ctr"/>
          <a:lstStyle/>
          <a:p>
            <a:pPr algn="ctr" indent="0" marL="0">
              <a:buNone/>
            </a:pPr>
            <a:r>
              <a:rPr lang="en-US" sz="1300" b="1" dirty="0">
                <a:solidFill>
                  <a:srgbClr val="1C4A6E"/>
                </a:solidFill>
                <a:latin typeface="Calibri" pitchFamily="34" charset="0"/>
                <a:ea typeface="Calibri" pitchFamily="34" charset="-122"/>
                <a:cs typeface="Calibri" pitchFamily="34" charset="-120"/>
              </a:rPr>
              <a:t>The largest bucket</a:t>
            </a:r>
            <a:endParaRPr lang="en-US" sz="1300" dirty="0"/>
          </a:p>
        </p:txBody>
      </p:sp>
      <p:sp>
        <p:nvSpPr>
          <p:cNvPr id="16" name="Shape 14"/>
          <p:cNvSpPr/>
          <p:nvPr/>
        </p:nvSpPr>
        <p:spPr>
          <a:xfrm>
            <a:off x="8186928" y="1536192"/>
            <a:ext cx="3361944" cy="3675888"/>
          </a:xfrm>
          <a:prstGeom prst="roundRect">
            <a:avLst>
              <a:gd name="adj" fmla="val 2720"/>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7" name="Text 15"/>
          <p:cNvSpPr/>
          <p:nvPr/>
        </p:nvSpPr>
        <p:spPr>
          <a:xfrm>
            <a:off x="8497824" y="1773936"/>
            <a:ext cx="2740152" cy="292608"/>
          </a:xfrm>
          <a:prstGeom prst="rect">
            <a:avLst/>
          </a:prstGeom>
          <a:noFill/>
          <a:ln/>
        </p:spPr>
        <p:txBody>
          <a:bodyPr wrap="square" lIns="0" tIns="0" rIns="0" bIns="0" rtlCol="0" anchor="ctr"/>
          <a:lstStyle/>
          <a:p>
            <a:pPr indent="0" marL="0">
              <a:buNone/>
            </a:pPr>
            <a:r>
              <a:rPr lang="en-US" sz="1200" b="1" spc="150" kern="0" dirty="0">
                <a:solidFill>
                  <a:srgbClr val="8A5A1E"/>
                </a:solidFill>
                <a:latin typeface="Calibri" pitchFamily="34" charset="0"/>
                <a:ea typeface="Calibri" pitchFamily="34" charset="-122"/>
                <a:cs typeface="Calibri" pitchFamily="34" charset="-120"/>
              </a:rPr>
              <a:t>SNEAKY LEAKS</a:t>
            </a:r>
            <a:endParaRPr lang="en-US" sz="1200" dirty="0"/>
          </a:p>
        </p:txBody>
      </p:sp>
      <p:sp>
        <p:nvSpPr>
          <p:cNvPr id="18" name="Text 16"/>
          <p:cNvSpPr/>
          <p:nvPr/>
        </p:nvSpPr>
        <p:spPr>
          <a:xfrm>
            <a:off x="8497824" y="2066544"/>
            <a:ext cx="2740152" cy="256032"/>
          </a:xfrm>
          <a:prstGeom prst="rect">
            <a:avLst/>
          </a:prstGeom>
          <a:noFill/>
          <a:ln/>
        </p:spPr>
        <p:txBody>
          <a:bodyPr wrap="square" lIns="0" tIns="0" rIns="0" bIns="0" rtlCol="0" anchor="ctr"/>
          <a:lstStyle/>
          <a:p>
            <a:pPr indent="0" marL="0">
              <a:buNone/>
            </a:pPr>
            <a:r>
              <a:rPr lang="en-US" sz="1150" i="1" dirty="0">
                <a:solidFill>
                  <a:srgbClr val="5A7183"/>
                </a:solidFill>
                <a:latin typeface="Calibri" pitchFamily="34" charset="0"/>
                <a:ea typeface="Calibri" pitchFamily="34" charset="-122"/>
                <a:cs typeface="Calibri" pitchFamily="34" charset="-120"/>
              </a:rPr>
              <a:t>Nobody ever looks here</a:t>
            </a:r>
            <a:endParaRPr lang="en-US" sz="1150" dirty="0"/>
          </a:p>
        </p:txBody>
      </p:sp>
      <p:sp>
        <p:nvSpPr>
          <p:cNvPr id="19" name="Text 17"/>
          <p:cNvSpPr/>
          <p:nvPr/>
        </p:nvSpPr>
        <p:spPr>
          <a:xfrm>
            <a:off x="8534400" y="2450592"/>
            <a:ext cx="2703576" cy="19202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Internal traffic charged as if external</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Data crossing zones that need not cross</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Duplicate backup and disaster-recovery tiers</a:t>
            </a:r>
            <a:endParaRPr lang="en-US" sz="1250" dirty="0"/>
          </a:p>
          <a:p>
            <a:pPr marL="342900" indent="-342900">
              <a:lnSpc>
                <a:spcPts val="1700"/>
              </a:lnSpc>
              <a:spcAft>
                <a:spcPts val="800"/>
              </a:spcAft>
              <a:buSzPct val="100000"/>
              <a:buChar char="•"/>
            </a:pPr>
            <a:r>
              <a:rPr lang="en-US" sz="1250" dirty="0">
                <a:solidFill>
                  <a:srgbClr val="0B1B2B"/>
                </a:solidFill>
                <a:latin typeface="Calibri" pitchFamily="34" charset="0"/>
                <a:ea typeface="Calibri" pitchFamily="34" charset="-122"/>
                <a:cs typeface="Calibri" pitchFamily="34" charset="-120"/>
              </a:rPr>
              <a:t>Test databases on full production tiers</a:t>
            </a:r>
            <a:endParaRPr lang="en-US" sz="1250" dirty="0"/>
          </a:p>
        </p:txBody>
      </p:sp>
      <p:sp>
        <p:nvSpPr>
          <p:cNvPr id="20" name="Shape 18"/>
          <p:cNvSpPr/>
          <p:nvPr/>
        </p:nvSpPr>
        <p:spPr>
          <a:xfrm>
            <a:off x="8497824" y="4526280"/>
            <a:ext cx="2740152" cy="457200"/>
          </a:xfrm>
          <a:prstGeom prst="roundRect">
            <a:avLst>
              <a:gd name="adj" fmla="val 14000"/>
            </a:avLst>
          </a:prstGeom>
          <a:solidFill>
            <a:srgbClr val="EDF3F8"/>
          </a:solidFill>
          <a:ln w="12700">
            <a:solidFill>
              <a:srgbClr val="EDF3F8"/>
            </a:solidFill>
            <a:prstDash val="solid"/>
          </a:ln>
        </p:spPr>
      </p:sp>
      <p:sp>
        <p:nvSpPr>
          <p:cNvPr id="21" name="Text 19"/>
          <p:cNvSpPr/>
          <p:nvPr/>
        </p:nvSpPr>
        <p:spPr>
          <a:xfrm>
            <a:off x="8497824" y="4608576"/>
            <a:ext cx="2740152" cy="292608"/>
          </a:xfrm>
          <a:prstGeom prst="rect">
            <a:avLst/>
          </a:prstGeom>
          <a:noFill/>
          <a:ln/>
        </p:spPr>
        <p:txBody>
          <a:bodyPr wrap="square" lIns="0" tIns="0" rIns="0" bIns="0" rtlCol="0" anchor="ctr"/>
          <a:lstStyle/>
          <a:p>
            <a:pPr algn="ctr" indent="0" marL="0">
              <a:buNone/>
            </a:pPr>
            <a:r>
              <a:rPr lang="en-US" sz="1300" b="1" dirty="0">
                <a:solidFill>
                  <a:srgbClr val="8A5A1E"/>
                </a:solidFill>
                <a:latin typeface="Calibri" pitchFamily="34" charset="0"/>
                <a:ea typeface="Calibri" pitchFamily="34" charset="-122"/>
                <a:cs typeface="Calibri" pitchFamily="34" charset="-120"/>
              </a:rPr>
              <a:t>Often the biggest surprise</a:t>
            </a:r>
            <a:endParaRPr lang="en-US" sz="1300" dirty="0"/>
          </a:p>
        </p:txBody>
      </p:sp>
      <p:sp>
        <p:nvSpPr>
          <p:cNvPr id="22" name="Text 20"/>
          <p:cNvSpPr/>
          <p:nvPr/>
        </p:nvSpPr>
        <p:spPr>
          <a:xfrm>
            <a:off x="640080" y="5440680"/>
            <a:ext cx="10908792" cy="457200"/>
          </a:xfrm>
          <a:prstGeom prst="rect">
            <a:avLst/>
          </a:prstGeom>
          <a:noFill/>
          <a:ln/>
        </p:spPr>
        <p:txBody>
          <a:bodyPr wrap="square" lIns="0" tIns="0" rIns="0" bIns="0" rtlCol="0" anchor="ctr"/>
          <a:lstStyle/>
          <a:p>
            <a:pPr algn="ctr" indent="0" marL="0">
              <a:buNone/>
            </a:pPr>
            <a:r>
              <a:rPr lang="en-US" sz="1450" i="1" dirty="0">
                <a:solidFill>
                  <a:srgbClr val="5A7183"/>
                </a:solidFill>
                <a:latin typeface="Calibri" pitchFamily="34" charset="0"/>
                <a:ea typeface="Calibri" pitchFamily="34" charset="-122"/>
                <a:cs typeface="Calibri" pitchFamily="34" charset="-120"/>
              </a:rPr>
              <a:t>We always do the zero-risk column first. Being right about the easy things is what buys permission to touch the hard ones.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OUR UNFAIR ADVANTAGE</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We didn't invent the wheel. We turn it.</a:t>
            </a:r>
            <a:endParaRPr lang="en-US" sz="3400" dirty="0"/>
          </a:p>
        </p:txBody>
      </p:sp>
      <p:sp>
        <p:nvSpPr>
          <p:cNvPr id="4" name="Text 2"/>
          <p:cNvSpPr/>
          <p:nvPr/>
        </p:nvSpPr>
        <p:spPr>
          <a:xfrm>
            <a:off x="640080" y="1371600"/>
            <a:ext cx="10908792" cy="685800"/>
          </a:xfrm>
          <a:prstGeom prst="rect">
            <a:avLst/>
          </a:prstGeom>
          <a:noFill/>
          <a:ln/>
        </p:spPr>
        <p:txBody>
          <a:bodyPr wrap="square" lIns="0" tIns="0" rIns="0" bIns="0" rtlCol="0" anchor="ctr"/>
          <a:lstStyle/>
          <a:p>
            <a:pPr indent="0" marL="0">
              <a:lnSpc>
                <a:spcPts val="2300"/>
              </a:lnSpc>
              <a:buNone/>
            </a:pPr>
            <a:r>
              <a:rPr lang="en-US" sz="1550" dirty="0">
                <a:solidFill>
                  <a:srgbClr val="5A7183"/>
                </a:solidFill>
                <a:latin typeface="Calibri" pitchFamily="34" charset="0"/>
                <a:ea typeface="Calibri" pitchFamily="34" charset="-122"/>
                <a:cs typeface="Calibri" pitchFamily="34" charset="-120"/>
              </a:rPr>
              <a:t>Amazon already built tools that detect this waste automatically. They are free, they are switched on, and they are sitting inside every customer's account right now. Almost nobody has ever opened them.</a:t>
            </a:r>
            <a:endParaRPr lang="en-US" sz="1550" dirty="0"/>
          </a:p>
        </p:txBody>
      </p:sp>
      <p:sp>
        <p:nvSpPr>
          <p:cNvPr id="5" name="Shape 3"/>
          <p:cNvSpPr/>
          <p:nvPr/>
        </p:nvSpPr>
        <p:spPr>
          <a:xfrm>
            <a:off x="640080" y="2212848"/>
            <a:ext cx="2480310" cy="1481328"/>
          </a:xfrm>
          <a:prstGeom prst="roundRect">
            <a:avLst>
              <a:gd name="adj" fmla="val 555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6" name="Text 4"/>
          <p:cNvSpPr/>
          <p:nvPr/>
        </p:nvSpPr>
        <p:spPr>
          <a:xfrm>
            <a:off x="859536" y="2395728"/>
            <a:ext cx="2041398" cy="329184"/>
          </a:xfrm>
          <a:prstGeom prst="rect">
            <a:avLst/>
          </a:prstGeom>
          <a:noFill/>
          <a:ln/>
        </p:spPr>
        <p:txBody>
          <a:bodyPr wrap="square" lIns="0" tIns="0" rIns="0" bIns="0" rtlCol="0" anchor="ctr"/>
          <a:lstStyle/>
          <a:p>
            <a:pPr indent="0" marL="0">
              <a:buNone/>
            </a:pPr>
            <a:r>
              <a:rPr lang="en-US" sz="1350" b="1" dirty="0">
                <a:solidFill>
                  <a:srgbClr val="0B1B2B"/>
                </a:solidFill>
                <a:latin typeface="Calibri" pitchFamily="34" charset="0"/>
                <a:ea typeface="Calibri" pitchFamily="34" charset="-122"/>
                <a:cs typeface="Calibri" pitchFamily="34" charset="-120"/>
              </a:rPr>
              <a:t>Compute Optimizer</a:t>
            </a:r>
            <a:endParaRPr lang="en-US" sz="1350" dirty="0"/>
          </a:p>
        </p:txBody>
      </p:sp>
      <p:sp>
        <p:nvSpPr>
          <p:cNvPr id="7" name="Text 5"/>
          <p:cNvSpPr/>
          <p:nvPr/>
        </p:nvSpPr>
        <p:spPr>
          <a:xfrm>
            <a:off x="859536" y="2743200"/>
            <a:ext cx="2041398" cy="457200"/>
          </a:xfrm>
          <a:prstGeom prst="rect">
            <a:avLst/>
          </a:prstGeom>
          <a:noFill/>
          <a:ln/>
        </p:spPr>
        <p:txBody>
          <a:bodyPr wrap="square" lIns="0" tIns="0" rIns="0" bIns="0" rtlCol="0" anchor="ctr"/>
          <a:lstStyle/>
          <a:p>
            <a:pPr indent="0" marL="0">
              <a:lnSpc>
                <a:spcPts val="1600"/>
              </a:lnSpc>
              <a:buNone/>
            </a:pPr>
            <a:r>
              <a:rPr lang="en-US" sz="1200" dirty="0">
                <a:solidFill>
                  <a:srgbClr val="5A7183"/>
                </a:solidFill>
                <a:latin typeface="Calibri" pitchFamily="34" charset="0"/>
                <a:ea typeface="Calibri" pitchFamily="34" charset="-122"/>
                <a:cs typeface="Calibri" pitchFamily="34" charset="-120"/>
              </a:rPr>
              <a:t>Names every oversized machine</a:t>
            </a:r>
            <a:endParaRPr lang="en-US" sz="1200" dirty="0"/>
          </a:p>
        </p:txBody>
      </p:sp>
      <p:sp>
        <p:nvSpPr>
          <p:cNvPr id="8" name="Text 6"/>
          <p:cNvSpPr/>
          <p:nvPr/>
        </p:nvSpPr>
        <p:spPr>
          <a:xfrm>
            <a:off x="859536" y="3246120"/>
            <a:ext cx="2041398" cy="256032"/>
          </a:xfrm>
          <a:prstGeom prst="rect">
            <a:avLst/>
          </a:prstGeom>
          <a:noFill/>
          <a:ln/>
        </p:spPr>
        <p:txBody>
          <a:bodyPr wrap="square" lIns="0" tIns="0" rIns="0" bIns="0" rtlCol="0" anchor="ctr"/>
          <a:lstStyle/>
          <a:p>
            <a:pPr indent="0" marL="0">
              <a:buNone/>
            </a:pPr>
            <a:r>
              <a:rPr lang="en-US" sz="1050" b="1" dirty="0">
                <a:solidFill>
                  <a:srgbClr val="178C5F"/>
                </a:solidFill>
                <a:latin typeface="Calibri" pitchFamily="34" charset="0"/>
                <a:ea typeface="Calibri" pitchFamily="34" charset="-122"/>
                <a:cs typeface="Calibri" pitchFamily="34" charset="-120"/>
              </a:rPr>
              <a:t>Free · by Amazon</a:t>
            </a:r>
            <a:endParaRPr lang="en-US" sz="1050" dirty="0"/>
          </a:p>
        </p:txBody>
      </p:sp>
      <p:sp>
        <p:nvSpPr>
          <p:cNvPr id="9" name="Shape 7"/>
          <p:cNvSpPr/>
          <p:nvPr/>
        </p:nvSpPr>
        <p:spPr>
          <a:xfrm>
            <a:off x="3449574" y="2212848"/>
            <a:ext cx="2480310" cy="1481328"/>
          </a:xfrm>
          <a:prstGeom prst="roundRect">
            <a:avLst>
              <a:gd name="adj" fmla="val 555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0" name="Text 8"/>
          <p:cNvSpPr/>
          <p:nvPr/>
        </p:nvSpPr>
        <p:spPr>
          <a:xfrm>
            <a:off x="3669030" y="2395728"/>
            <a:ext cx="2041398" cy="329184"/>
          </a:xfrm>
          <a:prstGeom prst="rect">
            <a:avLst/>
          </a:prstGeom>
          <a:noFill/>
          <a:ln/>
        </p:spPr>
        <p:txBody>
          <a:bodyPr wrap="square" lIns="0" tIns="0" rIns="0" bIns="0" rtlCol="0" anchor="ctr"/>
          <a:lstStyle/>
          <a:p>
            <a:pPr indent="0" marL="0">
              <a:buNone/>
            </a:pPr>
            <a:r>
              <a:rPr lang="en-US" sz="1350" b="1" dirty="0">
                <a:solidFill>
                  <a:srgbClr val="0B1B2B"/>
                </a:solidFill>
                <a:latin typeface="Calibri" pitchFamily="34" charset="0"/>
                <a:ea typeface="Calibri" pitchFamily="34" charset="-122"/>
                <a:cs typeface="Calibri" pitchFamily="34" charset="-120"/>
              </a:rPr>
              <a:t>Cost Optimization Hub</a:t>
            </a:r>
            <a:endParaRPr lang="en-US" sz="1350" dirty="0"/>
          </a:p>
        </p:txBody>
      </p:sp>
      <p:sp>
        <p:nvSpPr>
          <p:cNvPr id="11" name="Text 9"/>
          <p:cNvSpPr/>
          <p:nvPr/>
        </p:nvSpPr>
        <p:spPr>
          <a:xfrm>
            <a:off x="3669030" y="2743200"/>
            <a:ext cx="2041398" cy="457200"/>
          </a:xfrm>
          <a:prstGeom prst="rect">
            <a:avLst/>
          </a:prstGeom>
          <a:noFill/>
          <a:ln/>
        </p:spPr>
        <p:txBody>
          <a:bodyPr wrap="square" lIns="0" tIns="0" rIns="0" bIns="0" rtlCol="0" anchor="ctr"/>
          <a:lstStyle/>
          <a:p>
            <a:pPr indent="0" marL="0">
              <a:lnSpc>
                <a:spcPts val="1600"/>
              </a:lnSpc>
              <a:buNone/>
            </a:pPr>
            <a:r>
              <a:rPr lang="en-US" sz="1200" dirty="0">
                <a:solidFill>
                  <a:srgbClr val="5A7183"/>
                </a:solidFill>
                <a:latin typeface="Calibri" pitchFamily="34" charset="0"/>
                <a:ea typeface="Calibri" pitchFamily="34" charset="-122"/>
                <a:cs typeface="Calibri" pitchFamily="34" charset="-120"/>
              </a:rPr>
              <a:t>Ranks savings by dollar value</a:t>
            </a:r>
            <a:endParaRPr lang="en-US" sz="1200" dirty="0"/>
          </a:p>
        </p:txBody>
      </p:sp>
      <p:sp>
        <p:nvSpPr>
          <p:cNvPr id="12" name="Text 10"/>
          <p:cNvSpPr/>
          <p:nvPr/>
        </p:nvSpPr>
        <p:spPr>
          <a:xfrm>
            <a:off x="3669030" y="3246120"/>
            <a:ext cx="2041398" cy="256032"/>
          </a:xfrm>
          <a:prstGeom prst="rect">
            <a:avLst/>
          </a:prstGeom>
          <a:noFill/>
          <a:ln/>
        </p:spPr>
        <p:txBody>
          <a:bodyPr wrap="square" lIns="0" tIns="0" rIns="0" bIns="0" rtlCol="0" anchor="ctr"/>
          <a:lstStyle/>
          <a:p>
            <a:pPr indent="0" marL="0">
              <a:buNone/>
            </a:pPr>
            <a:r>
              <a:rPr lang="en-US" sz="1050" b="1" dirty="0">
                <a:solidFill>
                  <a:srgbClr val="178C5F"/>
                </a:solidFill>
                <a:latin typeface="Calibri" pitchFamily="34" charset="0"/>
                <a:ea typeface="Calibri" pitchFamily="34" charset="-122"/>
                <a:cs typeface="Calibri" pitchFamily="34" charset="-120"/>
              </a:rPr>
              <a:t>Free · by Amazon</a:t>
            </a:r>
            <a:endParaRPr lang="en-US" sz="1050" dirty="0"/>
          </a:p>
        </p:txBody>
      </p:sp>
      <p:sp>
        <p:nvSpPr>
          <p:cNvPr id="13" name="Shape 11"/>
          <p:cNvSpPr/>
          <p:nvPr/>
        </p:nvSpPr>
        <p:spPr>
          <a:xfrm>
            <a:off x="6259068" y="2212848"/>
            <a:ext cx="2480310" cy="1481328"/>
          </a:xfrm>
          <a:prstGeom prst="roundRect">
            <a:avLst>
              <a:gd name="adj" fmla="val 555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4" name="Text 12"/>
          <p:cNvSpPr/>
          <p:nvPr/>
        </p:nvSpPr>
        <p:spPr>
          <a:xfrm>
            <a:off x="6478524" y="2395728"/>
            <a:ext cx="2041398" cy="329184"/>
          </a:xfrm>
          <a:prstGeom prst="rect">
            <a:avLst/>
          </a:prstGeom>
          <a:noFill/>
          <a:ln/>
        </p:spPr>
        <p:txBody>
          <a:bodyPr wrap="square" lIns="0" tIns="0" rIns="0" bIns="0" rtlCol="0" anchor="ctr"/>
          <a:lstStyle/>
          <a:p>
            <a:pPr indent="0" marL="0">
              <a:buNone/>
            </a:pPr>
            <a:r>
              <a:rPr lang="en-US" sz="1350" b="1" dirty="0">
                <a:solidFill>
                  <a:srgbClr val="0B1B2B"/>
                </a:solidFill>
                <a:latin typeface="Calibri" pitchFamily="34" charset="0"/>
                <a:ea typeface="Calibri" pitchFamily="34" charset="-122"/>
                <a:cs typeface="Calibri" pitchFamily="34" charset="-120"/>
              </a:rPr>
              <a:t>Trusted Advisor</a:t>
            </a:r>
            <a:endParaRPr lang="en-US" sz="1350" dirty="0"/>
          </a:p>
        </p:txBody>
      </p:sp>
      <p:sp>
        <p:nvSpPr>
          <p:cNvPr id="15" name="Text 13"/>
          <p:cNvSpPr/>
          <p:nvPr/>
        </p:nvSpPr>
        <p:spPr>
          <a:xfrm>
            <a:off x="6478524" y="2743200"/>
            <a:ext cx="2041398" cy="457200"/>
          </a:xfrm>
          <a:prstGeom prst="rect">
            <a:avLst/>
          </a:prstGeom>
          <a:noFill/>
          <a:ln/>
        </p:spPr>
        <p:txBody>
          <a:bodyPr wrap="square" lIns="0" tIns="0" rIns="0" bIns="0" rtlCol="0" anchor="ctr"/>
          <a:lstStyle/>
          <a:p>
            <a:pPr indent="0" marL="0">
              <a:lnSpc>
                <a:spcPts val="1600"/>
              </a:lnSpc>
              <a:buNone/>
            </a:pPr>
            <a:r>
              <a:rPr lang="en-US" sz="1200" dirty="0">
                <a:solidFill>
                  <a:srgbClr val="5A7183"/>
                </a:solidFill>
                <a:latin typeface="Calibri" pitchFamily="34" charset="0"/>
                <a:ea typeface="Calibri" pitchFamily="34" charset="-122"/>
                <a:cs typeface="Calibri" pitchFamily="34" charset="-120"/>
              </a:rPr>
              <a:t>Flags idle and unused resources</a:t>
            </a:r>
            <a:endParaRPr lang="en-US" sz="1200" dirty="0"/>
          </a:p>
        </p:txBody>
      </p:sp>
      <p:sp>
        <p:nvSpPr>
          <p:cNvPr id="16" name="Text 14"/>
          <p:cNvSpPr/>
          <p:nvPr/>
        </p:nvSpPr>
        <p:spPr>
          <a:xfrm>
            <a:off x="6478524" y="3246120"/>
            <a:ext cx="2041398" cy="256032"/>
          </a:xfrm>
          <a:prstGeom prst="rect">
            <a:avLst/>
          </a:prstGeom>
          <a:noFill/>
          <a:ln/>
        </p:spPr>
        <p:txBody>
          <a:bodyPr wrap="square" lIns="0" tIns="0" rIns="0" bIns="0" rtlCol="0" anchor="ctr"/>
          <a:lstStyle/>
          <a:p>
            <a:pPr indent="0" marL="0">
              <a:buNone/>
            </a:pPr>
            <a:r>
              <a:rPr lang="en-US" sz="1050" b="1" dirty="0">
                <a:solidFill>
                  <a:srgbClr val="178C5F"/>
                </a:solidFill>
                <a:latin typeface="Calibri" pitchFamily="34" charset="0"/>
                <a:ea typeface="Calibri" pitchFamily="34" charset="-122"/>
                <a:cs typeface="Calibri" pitchFamily="34" charset="-120"/>
              </a:rPr>
              <a:t>Free · by Amazon</a:t>
            </a:r>
            <a:endParaRPr lang="en-US" sz="1050" dirty="0"/>
          </a:p>
        </p:txBody>
      </p:sp>
      <p:sp>
        <p:nvSpPr>
          <p:cNvPr id="17" name="Shape 15"/>
          <p:cNvSpPr/>
          <p:nvPr/>
        </p:nvSpPr>
        <p:spPr>
          <a:xfrm>
            <a:off x="9068562" y="2212848"/>
            <a:ext cx="2480310" cy="1481328"/>
          </a:xfrm>
          <a:prstGeom prst="roundRect">
            <a:avLst>
              <a:gd name="adj" fmla="val 555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8" name="Text 16"/>
          <p:cNvSpPr/>
          <p:nvPr/>
        </p:nvSpPr>
        <p:spPr>
          <a:xfrm>
            <a:off x="9288018" y="2395728"/>
            <a:ext cx="2041398" cy="329184"/>
          </a:xfrm>
          <a:prstGeom prst="rect">
            <a:avLst/>
          </a:prstGeom>
          <a:noFill/>
          <a:ln/>
        </p:spPr>
        <p:txBody>
          <a:bodyPr wrap="square" lIns="0" tIns="0" rIns="0" bIns="0" rtlCol="0" anchor="ctr"/>
          <a:lstStyle/>
          <a:p>
            <a:pPr indent="0" marL="0">
              <a:buNone/>
            </a:pPr>
            <a:r>
              <a:rPr lang="en-US" sz="1350" b="1" dirty="0">
                <a:solidFill>
                  <a:srgbClr val="0B1B2B"/>
                </a:solidFill>
                <a:latin typeface="Calibri" pitchFamily="34" charset="0"/>
                <a:ea typeface="Calibri" pitchFamily="34" charset="-122"/>
                <a:cs typeface="Calibri" pitchFamily="34" charset="-120"/>
              </a:rPr>
              <a:t>Cloud Custodian</a:t>
            </a:r>
            <a:endParaRPr lang="en-US" sz="1350" dirty="0"/>
          </a:p>
        </p:txBody>
      </p:sp>
      <p:sp>
        <p:nvSpPr>
          <p:cNvPr id="19" name="Text 17"/>
          <p:cNvSpPr/>
          <p:nvPr/>
        </p:nvSpPr>
        <p:spPr>
          <a:xfrm>
            <a:off x="9288018" y="2743200"/>
            <a:ext cx="2041398" cy="457200"/>
          </a:xfrm>
          <a:prstGeom prst="rect">
            <a:avLst/>
          </a:prstGeom>
          <a:noFill/>
          <a:ln/>
        </p:spPr>
        <p:txBody>
          <a:bodyPr wrap="square" lIns="0" tIns="0" rIns="0" bIns="0" rtlCol="0" anchor="ctr"/>
          <a:lstStyle/>
          <a:p>
            <a:pPr indent="0" marL="0">
              <a:lnSpc>
                <a:spcPts val="1600"/>
              </a:lnSpc>
              <a:buNone/>
            </a:pPr>
            <a:r>
              <a:rPr lang="en-US" sz="1200" dirty="0">
                <a:solidFill>
                  <a:srgbClr val="5A7183"/>
                </a:solidFill>
                <a:latin typeface="Calibri" pitchFamily="34" charset="0"/>
                <a:ea typeface="Calibri" pitchFamily="34" charset="-122"/>
                <a:cs typeface="Calibri" pitchFamily="34" charset="-120"/>
              </a:rPr>
              <a:t>Enforces the rules automatically</a:t>
            </a:r>
            <a:endParaRPr lang="en-US" sz="1200" dirty="0"/>
          </a:p>
        </p:txBody>
      </p:sp>
      <p:sp>
        <p:nvSpPr>
          <p:cNvPr id="20" name="Text 18"/>
          <p:cNvSpPr/>
          <p:nvPr/>
        </p:nvSpPr>
        <p:spPr>
          <a:xfrm>
            <a:off x="9288018" y="3246120"/>
            <a:ext cx="2041398" cy="256032"/>
          </a:xfrm>
          <a:prstGeom prst="rect">
            <a:avLst/>
          </a:prstGeom>
          <a:noFill/>
          <a:ln/>
        </p:spPr>
        <p:txBody>
          <a:bodyPr wrap="square" lIns="0" tIns="0" rIns="0" bIns="0" rtlCol="0" anchor="ctr"/>
          <a:lstStyle/>
          <a:p>
            <a:pPr indent="0" marL="0">
              <a:buNone/>
            </a:pPr>
            <a:r>
              <a:rPr lang="en-US" sz="1050" b="1" dirty="0">
                <a:solidFill>
                  <a:srgbClr val="178C5F"/>
                </a:solidFill>
                <a:latin typeface="Calibri" pitchFamily="34" charset="0"/>
                <a:ea typeface="Calibri" pitchFamily="34" charset="-122"/>
                <a:cs typeface="Calibri" pitchFamily="34" charset="-120"/>
              </a:rPr>
              <a:t>Free · open source</a:t>
            </a:r>
            <a:endParaRPr lang="en-US" sz="1050" dirty="0"/>
          </a:p>
        </p:txBody>
      </p:sp>
      <p:sp>
        <p:nvSpPr>
          <p:cNvPr id="21" name="Shape 19"/>
          <p:cNvSpPr/>
          <p:nvPr/>
        </p:nvSpPr>
        <p:spPr>
          <a:xfrm>
            <a:off x="640080" y="3977640"/>
            <a:ext cx="10908792" cy="1920240"/>
          </a:xfrm>
          <a:prstGeom prst="roundRect">
            <a:avLst>
              <a:gd name="adj" fmla="val 4762"/>
            </a:avLst>
          </a:prstGeom>
          <a:solidFill>
            <a:srgbClr val="0B1B2B"/>
          </a:solidFill>
          <a:ln w="12700">
            <a:solidFill>
              <a:srgbClr val="0B1B2B"/>
            </a:solidFill>
            <a:prstDash val="solid"/>
          </a:ln>
        </p:spPr>
      </p:sp>
      <p:sp>
        <p:nvSpPr>
          <p:cNvPr id="22" name="Text 20"/>
          <p:cNvSpPr/>
          <p:nvPr/>
        </p:nvSpPr>
        <p:spPr>
          <a:xfrm>
            <a:off x="1097280" y="4206240"/>
            <a:ext cx="5120640"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 what exactly are we paid for?</a:t>
            </a:r>
            <a:endParaRPr lang="en-US" sz="2100" dirty="0"/>
          </a:p>
        </p:txBody>
      </p:sp>
      <p:sp>
        <p:nvSpPr>
          <p:cNvPr id="23" name="Text 21"/>
          <p:cNvSpPr/>
          <p:nvPr/>
        </p:nvSpPr>
        <p:spPr>
          <a:xfrm>
            <a:off x="1143000" y="4681728"/>
            <a:ext cx="5669280" cy="105156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50" dirty="0">
                <a:solidFill>
                  <a:srgbClr val="C8D6E2"/>
                </a:solidFill>
                <a:latin typeface="Calibri" pitchFamily="34" charset="0"/>
                <a:ea typeface="Calibri" pitchFamily="34" charset="-122"/>
                <a:cs typeface="Calibri" pitchFamily="34" charset="-120"/>
              </a:rPr>
              <a:t>Reading the output nobody opens</a:t>
            </a:r>
            <a:endParaRPr lang="en-US" sz="1350" dirty="0"/>
          </a:p>
          <a:p>
            <a:pPr marL="342900" indent="-342900">
              <a:lnSpc>
                <a:spcPts val="1800"/>
              </a:lnSpc>
              <a:spcAft>
                <a:spcPts val="600"/>
              </a:spcAft>
              <a:buSzPct val="100000"/>
              <a:buChar char="•"/>
            </a:pPr>
            <a:r>
              <a:rPr lang="en-US" sz="1350" dirty="0">
                <a:solidFill>
                  <a:srgbClr val="C8D6E2"/>
                </a:solidFill>
                <a:latin typeface="Calibri" pitchFamily="34" charset="0"/>
                <a:ea typeface="Calibri" pitchFamily="34" charset="-122"/>
                <a:cs typeface="Calibri" pitchFamily="34" charset="-120"/>
              </a:rPr>
              <a:t>Turning it into a decision, with a price tag on it</a:t>
            </a:r>
            <a:endParaRPr lang="en-US" sz="1350" dirty="0"/>
          </a:p>
          <a:p>
            <a:pPr marL="342900" indent="-342900">
              <a:lnSpc>
                <a:spcPts val="1800"/>
              </a:lnSpc>
              <a:spcAft>
                <a:spcPts val="600"/>
              </a:spcAft>
              <a:buSzPct val="100000"/>
              <a:buChar char="•"/>
            </a:pPr>
            <a:r>
              <a:rPr lang="en-US" sz="1350" dirty="0">
                <a:solidFill>
                  <a:srgbClr val="C8D6E2"/>
                </a:solidFill>
                <a:latin typeface="Calibri" pitchFamily="34" charset="0"/>
                <a:ea typeface="Calibri" pitchFamily="34" charset="-122"/>
                <a:cs typeface="Calibri" pitchFamily="34" charset="-120"/>
              </a:rPr>
              <a:t>Doing the work — and carrying the risk of having done it</a:t>
            </a:r>
            <a:endParaRPr lang="en-US" sz="1350" dirty="0"/>
          </a:p>
        </p:txBody>
      </p:sp>
      <p:sp>
        <p:nvSpPr>
          <p:cNvPr id="24" name="Shape 22"/>
          <p:cNvSpPr/>
          <p:nvPr/>
        </p:nvSpPr>
        <p:spPr>
          <a:xfrm>
            <a:off x="6903720" y="4279392"/>
            <a:ext cx="4645152" cy="1298448"/>
          </a:xfrm>
          <a:prstGeom prst="roundRect">
            <a:avLst>
              <a:gd name="adj" fmla="val 6338"/>
            </a:avLst>
          </a:prstGeom>
          <a:solidFill>
            <a:srgbClr val="13304A"/>
          </a:solidFill>
          <a:ln w="19050">
            <a:solidFill>
              <a:srgbClr val="2ECC8F"/>
            </a:solidFill>
            <a:prstDash val="solid"/>
          </a:ln>
        </p:spPr>
      </p:sp>
      <p:sp>
        <p:nvSpPr>
          <p:cNvPr id="25" name="Text 23"/>
          <p:cNvSpPr/>
          <p:nvPr/>
        </p:nvSpPr>
        <p:spPr>
          <a:xfrm>
            <a:off x="7086600" y="4553712"/>
            <a:ext cx="4279392" cy="777240"/>
          </a:xfrm>
          <a:prstGeom prst="rect">
            <a:avLst/>
          </a:prstGeom>
          <a:noFill/>
          <a:ln/>
        </p:spPr>
        <p:txBody>
          <a:bodyPr wrap="square" lIns="0" tIns="0" rIns="0" bIns="0" rtlCol="0" anchor="ctr"/>
          <a:lstStyle/>
          <a:p>
            <a:pPr algn="ctr" indent="0" marL="0">
              <a:lnSpc>
                <a:spcPts val="2400"/>
              </a:lnSpc>
              <a:buNone/>
            </a:pPr>
            <a:r>
              <a:rPr lang="en-US" sz="1700" b="1" i="1" dirty="0">
                <a:solidFill>
                  <a:srgbClr val="2ECC8F"/>
                </a:solidFill>
                <a:latin typeface="Cambria" pitchFamily="34" charset="0"/>
                <a:ea typeface="Cambria" pitchFamily="34" charset="-122"/>
                <a:cs typeface="Cambria" pitchFamily="34" charset="-120"/>
              </a:rPr>
              <a:t>A diagnosis is worthless.</a:t>
            </a:r>
            <a:endParaRPr lang="en-US" sz="1700" dirty="0"/>
          </a:p>
          <a:p>
            <a:pPr algn="ctr" indent="0" marL="0">
              <a:lnSpc>
                <a:spcPts val="2400"/>
              </a:lnSpc>
              <a:buNone/>
            </a:pPr>
            <a:r>
              <a:rPr lang="en-US" sz="1700" b="1" i="1" dirty="0">
                <a:solidFill>
                  <a:srgbClr val="2ECC8F"/>
                </a:solidFill>
                <a:latin typeface="Cambria" pitchFamily="34" charset="0"/>
                <a:ea typeface="Cambria" pitchFamily="34" charset="-122"/>
                <a:cs typeface="Cambria" pitchFamily="34" charset="-120"/>
              </a:rPr>
              <a:t>The treatment is the product.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2ECC8F"/>
                </a:solidFill>
                <a:latin typeface="Calibri" pitchFamily="34" charset="0"/>
                <a:ea typeface="Calibri" pitchFamily="34" charset="-122"/>
                <a:cs typeface="Calibri" pitchFamily="34" charset="-120"/>
              </a:rPr>
              <a:t>THE OFFER</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An offer that is impossible to refuse</a:t>
            </a:r>
            <a:endParaRPr lang="en-US" sz="3400" dirty="0"/>
          </a:p>
        </p:txBody>
      </p:sp>
      <p:sp>
        <p:nvSpPr>
          <p:cNvPr id="4" name="Shape 2"/>
          <p:cNvSpPr/>
          <p:nvPr/>
        </p:nvSpPr>
        <p:spPr>
          <a:xfrm>
            <a:off x="640080" y="1481328"/>
            <a:ext cx="10908792" cy="1965960"/>
          </a:xfrm>
          <a:prstGeom prst="roundRect">
            <a:avLst>
              <a:gd name="adj" fmla="val 5581"/>
            </a:avLst>
          </a:prstGeom>
          <a:solidFill>
            <a:srgbClr val="13304A"/>
          </a:solidFill>
          <a:ln w="28575">
            <a:solidFill>
              <a:srgbClr val="2ECC8F"/>
            </a:solidFill>
            <a:prstDash val="solid"/>
          </a:ln>
        </p:spPr>
      </p:sp>
      <p:sp>
        <p:nvSpPr>
          <p:cNvPr id="5" name="Text 3"/>
          <p:cNvSpPr/>
          <p:nvPr/>
        </p:nvSpPr>
        <p:spPr>
          <a:xfrm>
            <a:off x="1234440" y="1755648"/>
            <a:ext cx="9720072" cy="1417320"/>
          </a:xfrm>
          <a:prstGeom prst="rect">
            <a:avLst/>
          </a:prstGeom>
          <a:noFill/>
          <a:ln/>
        </p:spPr>
        <p:txBody>
          <a:bodyPr wrap="square" lIns="0" tIns="0" rIns="0" bIns="0" rtlCol="0" anchor="ctr"/>
          <a:lstStyle/>
          <a:p>
            <a:pPr algn="ctr" indent="0" marL="0">
              <a:lnSpc>
                <a:spcPts val="3400"/>
              </a:lnSpc>
              <a:buNone/>
            </a:pPr>
            <a:r>
              <a:rPr lang="en-US" sz="2300" b="1" dirty="0">
                <a:solidFill>
                  <a:srgbClr val="FFFFFF"/>
                </a:solidFill>
                <a:latin typeface="Cambria" pitchFamily="34" charset="0"/>
                <a:ea typeface="Cambria" pitchFamily="34" charset="-122"/>
                <a:cs typeface="Cambria" pitchFamily="34" charset="-120"/>
              </a:rPr>
              <a:t>“Give us read-only access for 48 hours. We'll send back a document showing exactly where your money is going. If we find less than $2,000 a year, you pay nothing.”</a:t>
            </a:r>
            <a:endParaRPr lang="en-US" sz="2300" dirty="0"/>
          </a:p>
        </p:txBody>
      </p:sp>
      <p:sp>
        <p:nvSpPr>
          <p:cNvPr id="6" name="Shape 4"/>
          <p:cNvSpPr/>
          <p:nvPr/>
        </p:nvSpPr>
        <p:spPr>
          <a:xfrm>
            <a:off x="640080" y="3703320"/>
            <a:ext cx="2480310" cy="1755648"/>
          </a:xfrm>
          <a:prstGeom prst="roundRect">
            <a:avLst>
              <a:gd name="adj" fmla="val 4688"/>
            </a:avLst>
          </a:prstGeom>
          <a:solidFill>
            <a:srgbClr val="12283C"/>
          </a:solidFill>
          <a:ln w="12700">
            <a:solidFill>
              <a:srgbClr val="1C4A6E"/>
            </a:solidFill>
            <a:prstDash val="solid"/>
          </a:ln>
        </p:spPr>
      </p:sp>
      <p:sp>
        <p:nvSpPr>
          <p:cNvPr id="7" name="Text 5"/>
          <p:cNvSpPr/>
          <p:nvPr/>
        </p:nvSpPr>
        <p:spPr>
          <a:xfrm>
            <a:off x="877824" y="3913632"/>
            <a:ext cx="2004822" cy="310896"/>
          </a:xfrm>
          <a:prstGeom prst="rect">
            <a:avLst/>
          </a:prstGeom>
          <a:noFill/>
          <a:ln/>
        </p:spPr>
        <p:txBody>
          <a:bodyPr wrap="square" lIns="0" tIns="0" rIns="0" bIns="0" rtlCol="0" anchor="ctr"/>
          <a:lstStyle/>
          <a:p>
            <a:pPr indent="0" marL="0">
              <a:buNone/>
            </a:pPr>
            <a:r>
              <a:rPr lang="en-US" sz="1450" b="1" dirty="0">
                <a:solidFill>
                  <a:srgbClr val="2ECC8F"/>
                </a:solidFill>
                <a:latin typeface="Calibri" pitchFamily="34" charset="0"/>
                <a:ea typeface="Calibri" pitchFamily="34" charset="-122"/>
                <a:cs typeface="Calibri" pitchFamily="34" charset="-120"/>
              </a:rPr>
              <a:t>Nothing to lose</a:t>
            </a:r>
            <a:endParaRPr lang="en-US" sz="1450" dirty="0"/>
          </a:p>
        </p:txBody>
      </p:sp>
      <p:sp>
        <p:nvSpPr>
          <p:cNvPr id="8" name="Text 6"/>
          <p:cNvSpPr/>
          <p:nvPr/>
        </p:nvSpPr>
        <p:spPr>
          <a:xfrm>
            <a:off x="877824" y="4261104"/>
            <a:ext cx="2004822" cy="1051560"/>
          </a:xfrm>
          <a:prstGeom prst="rect">
            <a:avLst/>
          </a:prstGeom>
          <a:noFill/>
          <a:ln/>
        </p:spPr>
        <p:txBody>
          <a:bodyPr wrap="square" lIns="0" tIns="0" rIns="0" bIns="0" rtlCol="0" anchor="ctr"/>
          <a:lstStyle/>
          <a:p>
            <a:pPr indent="0" marL="0">
              <a:lnSpc>
                <a:spcPts val="1600"/>
              </a:lnSpc>
              <a:buNone/>
            </a:pPr>
            <a:r>
              <a:rPr lang="en-US" sz="1150" dirty="0">
                <a:solidFill>
                  <a:srgbClr val="B4C6D6"/>
                </a:solidFill>
                <a:latin typeface="Calibri" pitchFamily="34" charset="0"/>
                <a:ea typeface="Calibri" pitchFamily="34" charset="-122"/>
                <a:cs typeface="Calibri" pitchFamily="34" charset="-120"/>
              </a:rPr>
              <a:t>No fee unless we find real money. The decision costs them nothing, so “no” has no argument behind it.</a:t>
            </a:r>
            <a:endParaRPr lang="en-US" sz="1150" dirty="0"/>
          </a:p>
        </p:txBody>
      </p:sp>
      <p:sp>
        <p:nvSpPr>
          <p:cNvPr id="9" name="Shape 7"/>
          <p:cNvSpPr/>
          <p:nvPr/>
        </p:nvSpPr>
        <p:spPr>
          <a:xfrm>
            <a:off x="3449574" y="3703320"/>
            <a:ext cx="2480310" cy="1755648"/>
          </a:xfrm>
          <a:prstGeom prst="roundRect">
            <a:avLst>
              <a:gd name="adj" fmla="val 4688"/>
            </a:avLst>
          </a:prstGeom>
          <a:solidFill>
            <a:srgbClr val="12283C"/>
          </a:solidFill>
          <a:ln w="12700">
            <a:solidFill>
              <a:srgbClr val="1C4A6E"/>
            </a:solidFill>
            <a:prstDash val="solid"/>
          </a:ln>
        </p:spPr>
      </p:sp>
      <p:sp>
        <p:nvSpPr>
          <p:cNvPr id="10" name="Text 8"/>
          <p:cNvSpPr/>
          <p:nvPr/>
        </p:nvSpPr>
        <p:spPr>
          <a:xfrm>
            <a:off x="3687318" y="3913632"/>
            <a:ext cx="2004822" cy="310896"/>
          </a:xfrm>
          <a:prstGeom prst="rect">
            <a:avLst/>
          </a:prstGeom>
          <a:noFill/>
          <a:ln/>
        </p:spPr>
        <p:txBody>
          <a:bodyPr wrap="square" lIns="0" tIns="0" rIns="0" bIns="0" rtlCol="0" anchor="ctr"/>
          <a:lstStyle/>
          <a:p>
            <a:pPr indent="0" marL="0">
              <a:buNone/>
            </a:pPr>
            <a:r>
              <a:rPr lang="en-US" sz="1450" b="1" dirty="0">
                <a:solidFill>
                  <a:srgbClr val="2ECC8F"/>
                </a:solidFill>
                <a:latin typeface="Calibri" pitchFamily="34" charset="0"/>
                <a:ea typeface="Calibri" pitchFamily="34" charset="-122"/>
                <a:cs typeface="Calibri" pitchFamily="34" charset="-120"/>
              </a:rPr>
              <a:t>Nothing to install</a:t>
            </a:r>
            <a:endParaRPr lang="en-US" sz="1450" dirty="0"/>
          </a:p>
        </p:txBody>
      </p:sp>
      <p:sp>
        <p:nvSpPr>
          <p:cNvPr id="11" name="Text 9"/>
          <p:cNvSpPr/>
          <p:nvPr/>
        </p:nvSpPr>
        <p:spPr>
          <a:xfrm>
            <a:off x="3687318" y="4261104"/>
            <a:ext cx="2004822" cy="1051560"/>
          </a:xfrm>
          <a:prstGeom prst="rect">
            <a:avLst/>
          </a:prstGeom>
          <a:noFill/>
          <a:ln/>
        </p:spPr>
        <p:txBody>
          <a:bodyPr wrap="square" lIns="0" tIns="0" rIns="0" bIns="0" rtlCol="0" anchor="ctr"/>
          <a:lstStyle/>
          <a:p>
            <a:pPr indent="0" marL="0">
              <a:lnSpc>
                <a:spcPts val="1600"/>
              </a:lnSpc>
              <a:buNone/>
            </a:pPr>
            <a:r>
              <a:rPr lang="en-US" sz="1150" dirty="0">
                <a:solidFill>
                  <a:srgbClr val="B4C6D6"/>
                </a:solidFill>
                <a:latin typeface="Calibri" pitchFamily="34" charset="0"/>
                <a:ea typeface="Calibri" pitchFamily="34" charset="-122"/>
                <a:cs typeface="Calibri" pitchFamily="34" charset="-120"/>
              </a:rPr>
              <a:t>No software, no migration, no engineering time. One permission, granted in about five minutes.</a:t>
            </a:r>
            <a:endParaRPr lang="en-US" sz="1150" dirty="0"/>
          </a:p>
        </p:txBody>
      </p:sp>
      <p:sp>
        <p:nvSpPr>
          <p:cNvPr id="12" name="Shape 10"/>
          <p:cNvSpPr/>
          <p:nvPr/>
        </p:nvSpPr>
        <p:spPr>
          <a:xfrm>
            <a:off x="6259068" y="3703320"/>
            <a:ext cx="2480310" cy="1755648"/>
          </a:xfrm>
          <a:prstGeom prst="roundRect">
            <a:avLst>
              <a:gd name="adj" fmla="val 4688"/>
            </a:avLst>
          </a:prstGeom>
          <a:solidFill>
            <a:srgbClr val="12283C"/>
          </a:solidFill>
          <a:ln w="12700">
            <a:solidFill>
              <a:srgbClr val="1C4A6E"/>
            </a:solidFill>
            <a:prstDash val="solid"/>
          </a:ln>
        </p:spPr>
      </p:sp>
      <p:sp>
        <p:nvSpPr>
          <p:cNvPr id="13" name="Text 11"/>
          <p:cNvSpPr/>
          <p:nvPr/>
        </p:nvSpPr>
        <p:spPr>
          <a:xfrm>
            <a:off x="6496812" y="3913632"/>
            <a:ext cx="2004822" cy="310896"/>
          </a:xfrm>
          <a:prstGeom prst="rect">
            <a:avLst/>
          </a:prstGeom>
          <a:noFill/>
          <a:ln/>
        </p:spPr>
        <p:txBody>
          <a:bodyPr wrap="square" lIns="0" tIns="0" rIns="0" bIns="0" rtlCol="0" anchor="ctr"/>
          <a:lstStyle/>
          <a:p>
            <a:pPr indent="0" marL="0">
              <a:buNone/>
            </a:pPr>
            <a:r>
              <a:rPr lang="en-US" sz="1450" b="1" dirty="0">
                <a:solidFill>
                  <a:srgbClr val="2ECC8F"/>
                </a:solidFill>
                <a:latin typeface="Calibri" pitchFamily="34" charset="0"/>
                <a:ea typeface="Calibri" pitchFamily="34" charset="-122"/>
                <a:cs typeface="Calibri" pitchFamily="34" charset="-120"/>
              </a:rPr>
              <a:t>Nothing to sign off</a:t>
            </a:r>
            <a:endParaRPr lang="en-US" sz="1450" dirty="0"/>
          </a:p>
        </p:txBody>
      </p:sp>
      <p:sp>
        <p:nvSpPr>
          <p:cNvPr id="14" name="Text 12"/>
          <p:cNvSpPr/>
          <p:nvPr/>
        </p:nvSpPr>
        <p:spPr>
          <a:xfrm>
            <a:off x="6496812" y="4261104"/>
            <a:ext cx="2004822" cy="1051560"/>
          </a:xfrm>
          <a:prstGeom prst="rect">
            <a:avLst/>
          </a:prstGeom>
          <a:noFill/>
          <a:ln/>
        </p:spPr>
        <p:txBody>
          <a:bodyPr wrap="square" lIns="0" tIns="0" rIns="0" bIns="0" rtlCol="0" anchor="ctr"/>
          <a:lstStyle/>
          <a:p>
            <a:pPr indent="0" marL="0">
              <a:lnSpc>
                <a:spcPts val="1600"/>
              </a:lnSpc>
              <a:buNone/>
            </a:pPr>
            <a:r>
              <a:rPr lang="en-US" sz="1150" dirty="0">
                <a:solidFill>
                  <a:srgbClr val="B4C6D6"/>
                </a:solidFill>
                <a:latin typeface="Calibri" pitchFamily="34" charset="0"/>
                <a:ea typeface="Calibri" pitchFamily="34" charset="-122"/>
                <a:cs typeface="Calibri" pitchFamily="34" charset="-120"/>
              </a:rPr>
              <a:t>Read-only. We cannot change, delete, or break anything — the permission does not allow it.</a:t>
            </a:r>
            <a:endParaRPr lang="en-US" sz="1150" dirty="0"/>
          </a:p>
        </p:txBody>
      </p:sp>
      <p:sp>
        <p:nvSpPr>
          <p:cNvPr id="15" name="Shape 13"/>
          <p:cNvSpPr/>
          <p:nvPr/>
        </p:nvSpPr>
        <p:spPr>
          <a:xfrm>
            <a:off x="9068562" y="3703320"/>
            <a:ext cx="2480310" cy="1755648"/>
          </a:xfrm>
          <a:prstGeom prst="roundRect">
            <a:avLst>
              <a:gd name="adj" fmla="val 4688"/>
            </a:avLst>
          </a:prstGeom>
          <a:solidFill>
            <a:srgbClr val="12283C"/>
          </a:solidFill>
          <a:ln w="12700">
            <a:solidFill>
              <a:srgbClr val="1C4A6E"/>
            </a:solidFill>
            <a:prstDash val="solid"/>
          </a:ln>
        </p:spPr>
      </p:sp>
      <p:sp>
        <p:nvSpPr>
          <p:cNvPr id="16" name="Text 14"/>
          <p:cNvSpPr/>
          <p:nvPr/>
        </p:nvSpPr>
        <p:spPr>
          <a:xfrm>
            <a:off x="9306306" y="3913632"/>
            <a:ext cx="2004822" cy="310896"/>
          </a:xfrm>
          <a:prstGeom prst="rect">
            <a:avLst/>
          </a:prstGeom>
          <a:noFill/>
          <a:ln/>
        </p:spPr>
        <p:txBody>
          <a:bodyPr wrap="square" lIns="0" tIns="0" rIns="0" bIns="0" rtlCol="0" anchor="ctr"/>
          <a:lstStyle/>
          <a:p>
            <a:pPr indent="0" marL="0">
              <a:buNone/>
            </a:pPr>
            <a:r>
              <a:rPr lang="en-US" sz="1450" b="1" dirty="0">
                <a:solidFill>
                  <a:srgbClr val="2ECC8F"/>
                </a:solidFill>
                <a:latin typeface="Calibri" pitchFamily="34" charset="0"/>
                <a:ea typeface="Calibri" pitchFamily="34" charset="-122"/>
                <a:cs typeface="Calibri" pitchFamily="34" charset="-120"/>
              </a:rPr>
              <a:t>Nothing to unwind</a:t>
            </a:r>
            <a:endParaRPr lang="en-US" sz="1450" dirty="0"/>
          </a:p>
        </p:txBody>
      </p:sp>
      <p:sp>
        <p:nvSpPr>
          <p:cNvPr id="17" name="Text 15"/>
          <p:cNvSpPr/>
          <p:nvPr/>
        </p:nvSpPr>
        <p:spPr>
          <a:xfrm>
            <a:off x="9306306" y="4261104"/>
            <a:ext cx="2004822" cy="1051560"/>
          </a:xfrm>
          <a:prstGeom prst="rect">
            <a:avLst/>
          </a:prstGeom>
          <a:noFill/>
          <a:ln/>
        </p:spPr>
        <p:txBody>
          <a:bodyPr wrap="square" lIns="0" tIns="0" rIns="0" bIns="0" rtlCol="0" anchor="ctr"/>
          <a:lstStyle/>
          <a:p>
            <a:pPr indent="0" marL="0">
              <a:lnSpc>
                <a:spcPts val="1600"/>
              </a:lnSpc>
              <a:buNone/>
            </a:pPr>
            <a:r>
              <a:rPr lang="en-US" sz="1150" dirty="0">
                <a:solidFill>
                  <a:srgbClr val="B4C6D6"/>
                </a:solidFill>
                <a:latin typeface="Calibri" pitchFamily="34" charset="0"/>
                <a:ea typeface="Calibri" pitchFamily="34" charset="-122"/>
                <a:cs typeface="Calibri" pitchFamily="34" charset="-120"/>
              </a:rPr>
              <a:t>They revoke it by deleting one setting. No contract to exit, no offboarding, no lock-in.</a:t>
            </a:r>
            <a:endParaRPr lang="en-US" sz="1150" dirty="0"/>
          </a:p>
        </p:txBody>
      </p:sp>
      <p:sp>
        <p:nvSpPr>
          <p:cNvPr id="18" name="Text 16"/>
          <p:cNvSpPr/>
          <p:nvPr/>
        </p:nvSpPr>
        <p:spPr>
          <a:xfrm>
            <a:off x="640080" y="5705856"/>
            <a:ext cx="10908792" cy="411480"/>
          </a:xfrm>
          <a:prstGeom prst="rect">
            <a:avLst/>
          </a:prstGeom>
          <a:noFill/>
          <a:ln/>
        </p:spPr>
        <p:txBody>
          <a:bodyPr wrap="square" lIns="0" tIns="0" rIns="0" bIns="0" rtlCol="0" anchor="ctr"/>
          <a:lstStyle/>
          <a:p>
            <a:pPr algn="ctr" indent="0" marL="0">
              <a:buNone/>
            </a:pPr>
            <a:r>
              <a:rPr lang="en-US" sz="1500" b="1" i="1" dirty="0">
                <a:solidFill>
                  <a:srgbClr val="2ECC8F"/>
                </a:solidFill>
                <a:latin typeface="Calibri" pitchFamily="34" charset="0"/>
                <a:ea typeface="Calibri" pitchFamily="34" charset="-122"/>
                <a:cs typeface="Calibri" pitchFamily="34" charset="-120"/>
              </a:rPr>
              <a:t>We are not asking them to buy anything. We are asking them to let us look.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Three steps, and we never touch the switch</a:t>
            </a:r>
            <a:endParaRPr lang="en-US" sz="3400" dirty="0"/>
          </a:p>
        </p:txBody>
      </p:sp>
      <p:sp>
        <p:nvSpPr>
          <p:cNvPr id="4" name="Shape 2"/>
          <p:cNvSpPr/>
          <p:nvPr/>
        </p:nvSpPr>
        <p:spPr>
          <a:xfrm>
            <a:off x="640080" y="1627632"/>
            <a:ext cx="3361944" cy="2487168"/>
          </a:xfrm>
          <a:prstGeom prst="roundRect">
            <a:avLst>
              <a:gd name="adj" fmla="val 367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Shape 3"/>
          <p:cNvSpPr/>
          <p:nvPr/>
        </p:nvSpPr>
        <p:spPr>
          <a:xfrm>
            <a:off x="950976" y="1865376"/>
            <a:ext cx="640080" cy="640080"/>
          </a:xfrm>
          <a:prstGeom prst="ellipse">
            <a:avLst/>
          </a:prstGeom>
          <a:solidFill>
            <a:srgbClr val="2ECC8F"/>
          </a:solidFill>
          <a:ln w="12700">
            <a:solidFill>
              <a:srgbClr val="2ECC8F"/>
            </a:solidFill>
            <a:prstDash val="solid"/>
          </a:ln>
        </p:spPr>
      </p:sp>
      <p:sp>
        <p:nvSpPr>
          <p:cNvPr id="6" name="Text 4"/>
          <p:cNvSpPr/>
          <p:nvPr/>
        </p:nvSpPr>
        <p:spPr>
          <a:xfrm>
            <a:off x="950976" y="1956816"/>
            <a:ext cx="640080" cy="438912"/>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1</a:t>
            </a:r>
            <a:endParaRPr lang="en-US" sz="2300" dirty="0"/>
          </a:p>
        </p:txBody>
      </p:sp>
      <p:sp>
        <p:nvSpPr>
          <p:cNvPr id="7" name="Text 5"/>
          <p:cNvSpPr/>
          <p:nvPr/>
        </p:nvSpPr>
        <p:spPr>
          <a:xfrm>
            <a:off x="1737360" y="1938528"/>
            <a:ext cx="1990344" cy="256032"/>
          </a:xfrm>
          <a:prstGeom prst="rect">
            <a:avLst/>
          </a:prstGeom>
          <a:noFill/>
          <a:ln/>
        </p:spPr>
        <p:txBody>
          <a:bodyPr wrap="square" lIns="0" tIns="0" rIns="0" bIns="0" rtlCol="0" anchor="ctr"/>
          <a:lstStyle/>
          <a:p>
            <a:pPr indent="0" marL="0">
              <a:buNone/>
            </a:pPr>
            <a:r>
              <a:rPr lang="en-US" sz="1100" b="1" spc="120" kern="0" dirty="0">
                <a:solidFill>
                  <a:srgbClr val="5A7183"/>
                </a:solidFill>
                <a:latin typeface="Calibri" pitchFamily="34" charset="0"/>
                <a:ea typeface="Calibri" pitchFamily="34" charset="-122"/>
                <a:cs typeface="Calibri" pitchFamily="34" charset="-120"/>
              </a:rPr>
              <a:t>Day 1</a:t>
            </a:r>
            <a:endParaRPr lang="en-US" sz="1100" dirty="0"/>
          </a:p>
        </p:txBody>
      </p:sp>
      <p:sp>
        <p:nvSpPr>
          <p:cNvPr id="8" name="Text 6"/>
          <p:cNvSpPr/>
          <p:nvPr/>
        </p:nvSpPr>
        <p:spPr>
          <a:xfrm>
            <a:off x="1737360" y="2194560"/>
            <a:ext cx="1990344" cy="329184"/>
          </a:xfrm>
          <a:prstGeom prst="rect">
            <a:avLst/>
          </a:prstGeom>
          <a:noFill/>
          <a:ln/>
        </p:spPr>
        <p:txBody>
          <a:bodyPr wrap="square" lIns="0" tIns="0" rIns="0" bIns="0" rtlCol="0" anchor="ctr"/>
          <a:lstStyle/>
          <a:p>
            <a:pPr indent="0" marL="0">
              <a:buNone/>
            </a:pPr>
            <a:r>
              <a:rPr lang="en-US" sz="1600" b="1" dirty="0">
                <a:solidFill>
                  <a:srgbClr val="0B1B2B"/>
                </a:solidFill>
                <a:latin typeface="Calibri" pitchFamily="34" charset="0"/>
                <a:ea typeface="Calibri" pitchFamily="34" charset="-122"/>
                <a:cs typeface="Calibri" pitchFamily="34" charset="-120"/>
              </a:rPr>
              <a:t>Read-only audit</a:t>
            </a:r>
            <a:endParaRPr lang="en-US" sz="1600" dirty="0"/>
          </a:p>
        </p:txBody>
      </p:sp>
      <p:sp>
        <p:nvSpPr>
          <p:cNvPr id="9" name="Text 7"/>
          <p:cNvSpPr/>
          <p:nvPr/>
        </p:nvSpPr>
        <p:spPr>
          <a:xfrm>
            <a:off x="950976" y="2743200"/>
            <a:ext cx="2740152" cy="1170432"/>
          </a:xfrm>
          <a:prstGeom prst="rect">
            <a:avLst/>
          </a:prstGeom>
          <a:noFill/>
          <a:ln/>
        </p:spPr>
        <p:txBody>
          <a:bodyPr wrap="square" lIns="0" tIns="0" rIns="0" bIns="0" rtlCol="0" anchor="ctr"/>
          <a:lstStyle/>
          <a:p>
            <a:pPr indent="0" marL="0">
              <a:lnSpc>
                <a:spcPts val="1800"/>
              </a:lnSpc>
              <a:buNone/>
            </a:pPr>
            <a:r>
              <a:rPr lang="en-US" sz="1250" dirty="0">
                <a:solidFill>
                  <a:srgbClr val="5A7183"/>
                </a:solidFill>
                <a:latin typeface="Calibri" pitchFamily="34" charset="0"/>
                <a:ea typeface="Calibri" pitchFamily="34" charset="-122"/>
                <a:cs typeface="Calibri" pitchFamily="34" charset="-120"/>
              </a:rPr>
              <a:t>They grant a viewing permission that cannot alter anything. We run the free detection tools and read every result.</a:t>
            </a:r>
            <a:endParaRPr lang="en-US" sz="1250" dirty="0"/>
          </a:p>
        </p:txBody>
      </p:sp>
      <p:sp>
        <p:nvSpPr>
          <p:cNvPr id="10" name="Shape 8"/>
          <p:cNvSpPr/>
          <p:nvPr/>
        </p:nvSpPr>
        <p:spPr>
          <a:xfrm>
            <a:off x="4056888" y="2715768"/>
            <a:ext cx="292608" cy="310896"/>
          </a:xfrm>
          <a:prstGeom prst="chevron">
            <a:avLst/>
          </a:prstGeom>
          <a:solidFill>
            <a:srgbClr val="9DB2C4"/>
          </a:solidFill>
          <a:ln w="12700">
            <a:solidFill>
              <a:srgbClr val="9DB2C4"/>
            </a:solidFill>
            <a:prstDash val="solid"/>
          </a:ln>
        </p:spPr>
      </p:sp>
      <p:sp>
        <p:nvSpPr>
          <p:cNvPr id="11" name="Shape 9"/>
          <p:cNvSpPr/>
          <p:nvPr/>
        </p:nvSpPr>
        <p:spPr>
          <a:xfrm>
            <a:off x="4413504" y="1627632"/>
            <a:ext cx="3361944" cy="2487168"/>
          </a:xfrm>
          <a:prstGeom prst="roundRect">
            <a:avLst>
              <a:gd name="adj" fmla="val 367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2" name="Shape 10"/>
          <p:cNvSpPr/>
          <p:nvPr/>
        </p:nvSpPr>
        <p:spPr>
          <a:xfrm>
            <a:off x="4724400" y="1865376"/>
            <a:ext cx="640080" cy="640080"/>
          </a:xfrm>
          <a:prstGeom prst="ellipse">
            <a:avLst/>
          </a:prstGeom>
          <a:solidFill>
            <a:srgbClr val="2ECC8F"/>
          </a:solidFill>
          <a:ln w="12700">
            <a:solidFill>
              <a:srgbClr val="2ECC8F"/>
            </a:solidFill>
            <a:prstDash val="solid"/>
          </a:ln>
        </p:spPr>
      </p:sp>
      <p:sp>
        <p:nvSpPr>
          <p:cNvPr id="13" name="Text 11"/>
          <p:cNvSpPr/>
          <p:nvPr/>
        </p:nvSpPr>
        <p:spPr>
          <a:xfrm>
            <a:off x="4724400" y="1956816"/>
            <a:ext cx="640080" cy="438912"/>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2</a:t>
            </a:r>
            <a:endParaRPr lang="en-US" sz="2300" dirty="0"/>
          </a:p>
        </p:txBody>
      </p:sp>
      <p:sp>
        <p:nvSpPr>
          <p:cNvPr id="14" name="Text 12"/>
          <p:cNvSpPr/>
          <p:nvPr/>
        </p:nvSpPr>
        <p:spPr>
          <a:xfrm>
            <a:off x="5510784" y="1938528"/>
            <a:ext cx="1990344" cy="256032"/>
          </a:xfrm>
          <a:prstGeom prst="rect">
            <a:avLst/>
          </a:prstGeom>
          <a:noFill/>
          <a:ln/>
        </p:spPr>
        <p:txBody>
          <a:bodyPr wrap="square" lIns="0" tIns="0" rIns="0" bIns="0" rtlCol="0" anchor="ctr"/>
          <a:lstStyle/>
          <a:p>
            <a:pPr indent="0" marL="0">
              <a:buNone/>
            </a:pPr>
            <a:r>
              <a:rPr lang="en-US" sz="1100" b="1" spc="120" kern="0" dirty="0">
                <a:solidFill>
                  <a:srgbClr val="5A7183"/>
                </a:solidFill>
                <a:latin typeface="Calibri" pitchFamily="34" charset="0"/>
                <a:ea typeface="Calibri" pitchFamily="34" charset="-122"/>
                <a:cs typeface="Calibri" pitchFamily="34" charset="-120"/>
              </a:rPr>
              <a:t>Day 2</a:t>
            </a:r>
            <a:endParaRPr lang="en-US" sz="1100" dirty="0"/>
          </a:p>
        </p:txBody>
      </p:sp>
      <p:sp>
        <p:nvSpPr>
          <p:cNvPr id="15" name="Text 13"/>
          <p:cNvSpPr/>
          <p:nvPr/>
        </p:nvSpPr>
        <p:spPr>
          <a:xfrm>
            <a:off x="5510784" y="2194560"/>
            <a:ext cx="1990344" cy="329184"/>
          </a:xfrm>
          <a:prstGeom prst="rect">
            <a:avLst/>
          </a:prstGeom>
          <a:noFill/>
          <a:ln/>
        </p:spPr>
        <p:txBody>
          <a:bodyPr wrap="square" lIns="0" tIns="0" rIns="0" bIns="0" rtlCol="0" anchor="ctr"/>
          <a:lstStyle/>
          <a:p>
            <a:pPr indent="0" marL="0">
              <a:buNone/>
            </a:pPr>
            <a:r>
              <a:rPr lang="en-US" sz="1600" b="1" dirty="0">
                <a:solidFill>
                  <a:srgbClr val="0B1B2B"/>
                </a:solidFill>
                <a:latin typeface="Calibri" pitchFamily="34" charset="0"/>
                <a:ea typeface="Calibri" pitchFamily="34" charset="-122"/>
                <a:cs typeface="Calibri" pitchFamily="34" charset="-120"/>
              </a:rPr>
              <a:t>Findings matrix</a:t>
            </a:r>
            <a:endParaRPr lang="en-US" sz="1600" dirty="0"/>
          </a:p>
        </p:txBody>
      </p:sp>
      <p:sp>
        <p:nvSpPr>
          <p:cNvPr id="16" name="Text 14"/>
          <p:cNvSpPr/>
          <p:nvPr/>
        </p:nvSpPr>
        <p:spPr>
          <a:xfrm>
            <a:off x="4724400" y="2743200"/>
            <a:ext cx="2740152" cy="1170432"/>
          </a:xfrm>
          <a:prstGeom prst="rect">
            <a:avLst/>
          </a:prstGeom>
          <a:noFill/>
          <a:ln/>
        </p:spPr>
        <p:txBody>
          <a:bodyPr wrap="square" lIns="0" tIns="0" rIns="0" bIns="0" rtlCol="0" anchor="ctr"/>
          <a:lstStyle/>
          <a:p>
            <a:pPr indent="0" marL="0">
              <a:lnSpc>
                <a:spcPts val="1800"/>
              </a:lnSpc>
              <a:buNone/>
            </a:pPr>
            <a:r>
              <a:rPr lang="en-US" sz="1250" dirty="0">
                <a:solidFill>
                  <a:srgbClr val="5A7183"/>
                </a:solidFill>
                <a:latin typeface="Calibri" pitchFamily="34" charset="0"/>
                <a:ea typeface="Calibri" pitchFamily="34" charset="-122"/>
                <a:cs typeface="Calibri" pitchFamily="34" charset="-120"/>
              </a:rPr>
              <a:t>One document. Every item of waste, its dollar value, how risky removing it is, and how long it takes.</a:t>
            </a:r>
            <a:endParaRPr lang="en-US" sz="1250" dirty="0"/>
          </a:p>
        </p:txBody>
      </p:sp>
      <p:sp>
        <p:nvSpPr>
          <p:cNvPr id="17" name="Shape 15"/>
          <p:cNvSpPr/>
          <p:nvPr/>
        </p:nvSpPr>
        <p:spPr>
          <a:xfrm>
            <a:off x="7830312" y="2715768"/>
            <a:ext cx="292608" cy="310896"/>
          </a:xfrm>
          <a:prstGeom prst="chevron">
            <a:avLst/>
          </a:prstGeom>
          <a:solidFill>
            <a:srgbClr val="9DB2C4"/>
          </a:solidFill>
          <a:ln w="12700">
            <a:solidFill>
              <a:srgbClr val="9DB2C4"/>
            </a:solidFill>
            <a:prstDash val="solid"/>
          </a:ln>
        </p:spPr>
      </p:sp>
      <p:sp>
        <p:nvSpPr>
          <p:cNvPr id="18" name="Shape 16"/>
          <p:cNvSpPr/>
          <p:nvPr/>
        </p:nvSpPr>
        <p:spPr>
          <a:xfrm>
            <a:off x="8186928" y="1627632"/>
            <a:ext cx="3361944" cy="2487168"/>
          </a:xfrm>
          <a:prstGeom prst="roundRect">
            <a:avLst>
              <a:gd name="adj" fmla="val 3676"/>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19" name="Shape 17"/>
          <p:cNvSpPr/>
          <p:nvPr/>
        </p:nvSpPr>
        <p:spPr>
          <a:xfrm>
            <a:off x="8497824" y="1865376"/>
            <a:ext cx="640080" cy="640080"/>
          </a:xfrm>
          <a:prstGeom prst="ellipse">
            <a:avLst/>
          </a:prstGeom>
          <a:solidFill>
            <a:srgbClr val="2ECC8F"/>
          </a:solidFill>
          <a:ln w="12700">
            <a:solidFill>
              <a:srgbClr val="2ECC8F"/>
            </a:solidFill>
            <a:prstDash val="solid"/>
          </a:ln>
        </p:spPr>
      </p:sp>
      <p:sp>
        <p:nvSpPr>
          <p:cNvPr id="20" name="Text 18"/>
          <p:cNvSpPr/>
          <p:nvPr/>
        </p:nvSpPr>
        <p:spPr>
          <a:xfrm>
            <a:off x="8497824" y="1956816"/>
            <a:ext cx="640080" cy="438912"/>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3</a:t>
            </a:r>
            <a:endParaRPr lang="en-US" sz="2300" dirty="0"/>
          </a:p>
        </p:txBody>
      </p:sp>
      <p:sp>
        <p:nvSpPr>
          <p:cNvPr id="21" name="Text 19"/>
          <p:cNvSpPr/>
          <p:nvPr/>
        </p:nvSpPr>
        <p:spPr>
          <a:xfrm>
            <a:off x="9284208" y="1938528"/>
            <a:ext cx="1990344" cy="256032"/>
          </a:xfrm>
          <a:prstGeom prst="rect">
            <a:avLst/>
          </a:prstGeom>
          <a:noFill/>
          <a:ln/>
        </p:spPr>
        <p:txBody>
          <a:bodyPr wrap="square" lIns="0" tIns="0" rIns="0" bIns="0" rtlCol="0" anchor="ctr"/>
          <a:lstStyle/>
          <a:p>
            <a:pPr indent="0" marL="0">
              <a:buNone/>
            </a:pPr>
            <a:r>
              <a:rPr lang="en-US" sz="1100" b="1" spc="120" kern="0" dirty="0">
                <a:solidFill>
                  <a:srgbClr val="5A7183"/>
                </a:solidFill>
                <a:latin typeface="Calibri" pitchFamily="34" charset="0"/>
                <a:ea typeface="Calibri" pitchFamily="34" charset="-122"/>
                <a:cs typeface="Calibri" pitchFamily="34" charset="-120"/>
              </a:rPr>
              <a:t>Week 2+</a:t>
            </a:r>
            <a:endParaRPr lang="en-US" sz="1100" dirty="0"/>
          </a:p>
        </p:txBody>
      </p:sp>
      <p:sp>
        <p:nvSpPr>
          <p:cNvPr id="22" name="Text 20"/>
          <p:cNvSpPr/>
          <p:nvPr/>
        </p:nvSpPr>
        <p:spPr>
          <a:xfrm>
            <a:off x="9284208" y="2194560"/>
            <a:ext cx="1990344" cy="329184"/>
          </a:xfrm>
          <a:prstGeom prst="rect">
            <a:avLst/>
          </a:prstGeom>
          <a:noFill/>
          <a:ln/>
        </p:spPr>
        <p:txBody>
          <a:bodyPr wrap="square" lIns="0" tIns="0" rIns="0" bIns="0" rtlCol="0" anchor="ctr"/>
          <a:lstStyle/>
          <a:p>
            <a:pPr indent="0" marL="0">
              <a:buNone/>
            </a:pPr>
            <a:r>
              <a:rPr lang="en-US" sz="1600" b="1" dirty="0">
                <a:solidFill>
                  <a:srgbClr val="0B1B2B"/>
                </a:solidFill>
                <a:latin typeface="Calibri" pitchFamily="34" charset="0"/>
                <a:ea typeface="Calibri" pitchFamily="34" charset="-122"/>
                <a:cs typeface="Calibri" pitchFamily="34" charset="-120"/>
              </a:rPr>
              <a:t>Safe implementation</a:t>
            </a:r>
            <a:endParaRPr lang="en-US" sz="1600" dirty="0"/>
          </a:p>
        </p:txBody>
      </p:sp>
      <p:sp>
        <p:nvSpPr>
          <p:cNvPr id="23" name="Text 21"/>
          <p:cNvSpPr/>
          <p:nvPr/>
        </p:nvSpPr>
        <p:spPr>
          <a:xfrm>
            <a:off x="8497824" y="2743200"/>
            <a:ext cx="2740152" cy="1170432"/>
          </a:xfrm>
          <a:prstGeom prst="rect">
            <a:avLst/>
          </a:prstGeom>
          <a:noFill/>
          <a:ln/>
        </p:spPr>
        <p:txBody>
          <a:bodyPr wrap="square" lIns="0" tIns="0" rIns="0" bIns="0" rtlCol="0" anchor="ctr"/>
          <a:lstStyle/>
          <a:p>
            <a:pPr indent="0" marL="0">
              <a:lnSpc>
                <a:spcPts val="1800"/>
              </a:lnSpc>
              <a:buNone/>
            </a:pPr>
            <a:r>
              <a:rPr lang="en-US" sz="1250" dirty="0">
                <a:solidFill>
                  <a:srgbClr val="5A7183"/>
                </a:solidFill>
                <a:latin typeface="Calibri" pitchFamily="34" charset="0"/>
                <a:ea typeface="Calibri" pitchFamily="34" charset="-122"/>
                <a:cs typeface="Calibri" pitchFamily="34" charset="-120"/>
              </a:rPr>
              <a:t>Each change is proposed as a written request their own engineer reviews and approves. They press the button, never us.</a:t>
            </a:r>
            <a:endParaRPr lang="en-US" sz="1250" dirty="0"/>
          </a:p>
        </p:txBody>
      </p:sp>
      <p:sp>
        <p:nvSpPr>
          <p:cNvPr id="24" name="Shape 22"/>
          <p:cNvSpPr/>
          <p:nvPr/>
        </p:nvSpPr>
        <p:spPr>
          <a:xfrm>
            <a:off x="640080" y="4407408"/>
            <a:ext cx="10908792" cy="1536192"/>
          </a:xfrm>
          <a:prstGeom prst="roundRect">
            <a:avLst>
              <a:gd name="adj" fmla="val 5952"/>
            </a:avLst>
          </a:prstGeom>
          <a:solidFill>
            <a:srgbClr val="0B1B2B"/>
          </a:solidFill>
          <a:ln w="12700">
            <a:solidFill>
              <a:srgbClr val="0B1B2B"/>
            </a:solidFill>
            <a:prstDash val="solid"/>
          </a:ln>
        </p:spPr>
      </p:sp>
      <p:sp>
        <p:nvSpPr>
          <p:cNvPr id="25" name="Text 23"/>
          <p:cNvSpPr/>
          <p:nvPr/>
        </p:nvSpPr>
        <p:spPr>
          <a:xfrm>
            <a:off x="1097280" y="4617720"/>
            <a:ext cx="9994392" cy="310896"/>
          </a:xfrm>
          <a:prstGeom prst="rect">
            <a:avLst/>
          </a:prstGeom>
          <a:noFill/>
          <a:ln/>
        </p:spPr>
        <p:txBody>
          <a:bodyPr wrap="square" lIns="0" tIns="0" rIns="0" bIns="0" rtlCol="0" anchor="ctr"/>
          <a:lstStyle/>
          <a:p>
            <a:pPr indent="0" marL="0">
              <a:buNone/>
            </a:pPr>
            <a:r>
              <a:rPr lang="en-US" sz="1200" b="1" spc="150" kern="0" dirty="0">
                <a:solidFill>
                  <a:srgbClr val="2ECC8F"/>
                </a:solidFill>
                <a:latin typeface="Calibri" pitchFamily="34" charset="0"/>
                <a:ea typeface="Calibri" pitchFamily="34" charset="-122"/>
                <a:cs typeface="Calibri" pitchFamily="34" charset="-120"/>
              </a:rPr>
              <a:t>The rule that protects the whole business</a:t>
            </a:r>
            <a:endParaRPr lang="en-US" sz="1200" dirty="0"/>
          </a:p>
        </p:txBody>
      </p:sp>
      <p:sp>
        <p:nvSpPr>
          <p:cNvPr id="26" name="Text 24"/>
          <p:cNvSpPr/>
          <p:nvPr/>
        </p:nvSpPr>
        <p:spPr>
          <a:xfrm>
            <a:off x="1097280" y="4956048"/>
            <a:ext cx="9994392" cy="868680"/>
          </a:xfrm>
          <a:prstGeom prst="rect">
            <a:avLst/>
          </a:prstGeom>
          <a:noFill/>
          <a:ln/>
        </p:spPr>
        <p:txBody>
          <a:bodyPr wrap="square" lIns="0" tIns="0" rIns="0" bIns="0" rtlCol="0" anchor="ctr"/>
          <a:lstStyle/>
          <a:p>
            <a:pPr indent="0" marL="0">
              <a:lnSpc>
                <a:spcPts val="2200"/>
              </a:lnSpc>
              <a:buNone/>
            </a:pPr>
            <a:r>
              <a:rPr lang="en-US" sz="1450" dirty="0">
                <a:solidFill>
                  <a:srgbClr val="C8D6E2"/>
                </a:solidFill>
                <a:latin typeface="Calibri" pitchFamily="34" charset="0"/>
                <a:ea typeface="Calibri" pitchFamily="34" charset="-122"/>
                <a:cs typeface="Calibri" pitchFamily="34" charset="-120"/>
              </a:rPr>
              <a:t>We never hold permission to change a customer's live system. Not once, not briefly, not as a favour. We recommend; they approve and execute. It is our strongest legal protection and, conveniently, also the answer to the only objection that ever really matters.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178C5F"/>
                </a:solidFill>
                <a:latin typeface="Calibri" pitchFamily="34" charset="0"/>
                <a:ea typeface="Calibri" pitchFamily="34" charset="-122"/>
                <a:cs typeface="Calibri" pitchFamily="34" charset="-120"/>
              </a:rPr>
              <a:t>HOW WE GET PAID</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0B1B2B"/>
                </a:solidFill>
                <a:latin typeface="Cambria" pitchFamily="34" charset="0"/>
                <a:ea typeface="Cambria" pitchFamily="34" charset="-122"/>
                <a:cs typeface="Cambria" pitchFamily="34" charset="-120"/>
              </a:rPr>
              <a:t>Audits acquire. Retainers are the business.</a:t>
            </a:r>
            <a:endParaRPr lang="en-US" sz="3400" dirty="0"/>
          </a:p>
        </p:txBody>
      </p:sp>
      <p:sp>
        <p:nvSpPr>
          <p:cNvPr id="4" name="Shape 2"/>
          <p:cNvSpPr/>
          <p:nvPr/>
        </p:nvSpPr>
        <p:spPr>
          <a:xfrm>
            <a:off x="640080" y="1536192"/>
            <a:ext cx="5248656" cy="3749040"/>
          </a:xfrm>
          <a:prstGeom prst="roundRect">
            <a:avLst>
              <a:gd name="adj" fmla="val 2439"/>
            </a:avLst>
          </a:prstGeom>
          <a:solidFill>
            <a:srgbClr val="FFFFFF"/>
          </a:solidFill>
          <a:ln w="12700">
            <a:solidFill>
              <a:srgbClr val="DCE5ED"/>
            </a:solidFill>
            <a:prstDash val="solid"/>
          </a:ln>
          <a:effectLst>
            <a:outerShdw sx="100000" sy="100000" kx="0" ky="0" algn="bl" rotWithShape="0" blurRad="152400" dist="38100" dir="5400000">
              <a:srgbClr val="9AAEC0">
                <a:alpha val="18000"/>
              </a:srgbClr>
            </a:outerShdw>
          </a:effectLst>
        </p:spPr>
      </p:sp>
      <p:sp>
        <p:nvSpPr>
          <p:cNvPr id="5" name="Text 3"/>
          <p:cNvSpPr/>
          <p:nvPr/>
        </p:nvSpPr>
        <p:spPr>
          <a:xfrm>
            <a:off x="1024128" y="1773936"/>
            <a:ext cx="4480560" cy="329184"/>
          </a:xfrm>
          <a:prstGeom prst="rect">
            <a:avLst/>
          </a:prstGeom>
          <a:noFill/>
          <a:ln/>
        </p:spPr>
        <p:txBody>
          <a:bodyPr wrap="square" lIns="0" tIns="0" rIns="0" bIns="0" rtlCol="0" anchor="ctr"/>
          <a:lstStyle/>
          <a:p>
            <a:pPr indent="0" marL="0">
              <a:buNone/>
            </a:pPr>
            <a:r>
              <a:rPr lang="en-US" sz="1500" b="1" dirty="0">
                <a:solidFill>
                  <a:srgbClr val="0B1B2B"/>
                </a:solidFill>
                <a:latin typeface="Calibri" pitchFamily="34" charset="0"/>
                <a:ea typeface="Calibri" pitchFamily="34" charset="-122"/>
                <a:cs typeface="Calibri" pitchFamily="34" charset="-120"/>
              </a:rPr>
              <a:t>Stage 1  ·  The audit</a:t>
            </a:r>
            <a:endParaRPr lang="en-US" sz="1500" dirty="0"/>
          </a:p>
        </p:txBody>
      </p:sp>
      <p:sp>
        <p:nvSpPr>
          <p:cNvPr id="6" name="Text 4"/>
          <p:cNvSpPr/>
          <p:nvPr/>
        </p:nvSpPr>
        <p:spPr>
          <a:xfrm>
            <a:off x="1024128" y="2212848"/>
            <a:ext cx="1600200" cy="274320"/>
          </a:xfrm>
          <a:prstGeom prst="rect">
            <a:avLst/>
          </a:prstGeom>
          <a:noFill/>
          <a:ln/>
        </p:spPr>
        <p:txBody>
          <a:bodyPr wrap="square" lIns="0" tIns="0" rIns="0" bIns="0" rtlCol="0" anchor="ctr"/>
          <a:lstStyle/>
          <a:p>
            <a:pPr indent="0" marL="0">
              <a:buNone/>
            </a:pPr>
            <a:r>
              <a:rPr lang="en-US" sz="1250" b="1" dirty="0">
                <a:solidFill>
                  <a:srgbClr val="5A7183"/>
                </a:solidFill>
                <a:latin typeface="Calibri" pitchFamily="34" charset="0"/>
                <a:ea typeface="Calibri" pitchFamily="34" charset="-122"/>
                <a:cs typeface="Calibri" pitchFamily="34" charset="-120"/>
              </a:rPr>
              <a:t>Clients 1–2</a:t>
            </a:r>
            <a:endParaRPr lang="en-US" sz="1250" dirty="0"/>
          </a:p>
        </p:txBody>
      </p:sp>
      <p:sp>
        <p:nvSpPr>
          <p:cNvPr id="7" name="Text 5"/>
          <p:cNvSpPr/>
          <p:nvPr/>
        </p:nvSpPr>
        <p:spPr>
          <a:xfrm>
            <a:off x="2651760" y="2185416"/>
            <a:ext cx="3017520" cy="310896"/>
          </a:xfrm>
          <a:prstGeom prst="rect">
            <a:avLst/>
          </a:prstGeom>
          <a:noFill/>
          <a:ln/>
        </p:spPr>
        <p:txBody>
          <a:bodyPr wrap="square" lIns="0" tIns="0" rIns="0" bIns="0" rtlCol="0" anchor="ctr"/>
          <a:lstStyle/>
          <a:p>
            <a:pPr indent="0" marL="0">
              <a:buNone/>
            </a:pPr>
            <a:r>
              <a:rPr lang="en-US" sz="1600" b="1" dirty="0">
                <a:solidFill>
                  <a:srgbClr val="178C5F"/>
                </a:solidFill>
                <a:latin typeface="Calibri" pitchFamily="34" charset="0"/>
                <a:ea typeface="Calibri" pitchFamily="34" charset="-122"/>
                <a:cs typeface="Calibri" pitchFamily="34" charset="-120"/>
              </a:rPr>
              <a:t>$1,000 flat</a:t>
            </a:r>
            <a:endParaRPr lang="en-US" sz="1600" dirty="0"/>
          </a:p>
        </p:txBody>
      </p:sp>
      <p:sp>
        <p:nvSpPr>
          <p:cNvPr id="8" name="Text 6"/>
          <p:cNvSpPr/>
          <p:nvPr/>
        </p:nvSpPr>
        <p:spPr>
          <a:xfrm>
            <a:off x="1024128" y="2505456"/>
            <a:ext cx="4480560" cy="548640"/>
          </a:xfrm>
          <a:prstGeom prst="rect">
            <a:avLst/>
          </a:prstGeom>
          <a:noFill/>
          <a:ln/>
        </p:spPr>
        <p:txBody>
          <a:bodyPr wrap="square" lIns="0" tIns="0" rIns="0" bIns="0" rtlCol="0" anchor="ctr"/>
          <a:lstStyle/>
          <a:p>
            <a:pPr indent="0" marL="0">
              <a:lnSpc>
                <a:spcPts val="1600"/>
              </a:lnSpc>
              <a:buNone/>
            </a:pPr>
            <a:r>
              <a:rPr lang="en-US" sz="1150" dirty="0">
                <a:solidFill>
                  <a:srgbClr val="5A7183"/>
                </a:solidFill>
                <a:latin typeface="Calibri" pitchFamily="34" charset="0"/>
                <a:ea typeface="Calibri" pitchFamily="34" charset="-122"/>
                <a:cs typeface="Calibri" pitchFamily="34" charset="-120"/>
              </a:rPr>
              <a:t>Priced to be an easy yes. You are buying a testimonial and a reference, not profit.</a:t>
            </a:r>
            <a:endParaRPr lang="en-US" sz="1150" dirty="0"/>
          </a:p>
        </p:txBody>
      </p:sp>
      <p:sp>
        <p:nvSpPr>
          <p:cNvPr id="9" name="Text 7"/>
          <p:cNvSpPr/>
          <p:nvPr/>
        </p:nvSpPr>
        <p:spPr>
          <a:xfrm>
            <a:off x="1024128" y="3200400"/>
            <a:ext cx="1600200" cy="274320"/>
          </a:xfrm>
          <a:prstGeom prst="rect">
            <a:avLst/>
          </a:prstGeom>
          <a:noFill/>
          <a:ln/>
        </p:spPr>
        <p:txBody>
          <a:bodyPr wrap="square" lIns="0" tIns="0" rIns="0" bIns="0" rtlCol="0" anchor="ctr"/>
          <a:lstStyle/>
          <a:p>
            <a:pPr indent="0" marL="0">
              <a:buNone/>
            </a:pPr>
            <a:r>
              <a:rPr lang="en-US" sz="1250" b="1" dirty="0">
                <a:solidFill>
                  <a:srgbClr val="5A7183"/>
                </a:solidFill>
                <a:latin typeface="Calibri" pitchFamily="34" charset="0"/>
                <a:ea typeface="Calibri" pitchFamily="34" charset="-122"/>
                <a:cs typeface="Calibri" pitchFamily="34" charset="-120"/>
              </a:rPr>
              <a:t>Clients 3–5</a:t>
            </a:r>
            <a:endParaRPr lang="en-US" sz="1250" dirty="0"/>
          </a:p>
        </p:txBody>
      </p:sp>
      <p:sp>
        <p:nvSpPr>
          <p:cNvPr id="10" name="Text 8"/>
          <p:cNvSpPr/>
          <p:nvPr/>
        </p:nvSpPr>
        <p:spPr>
          <a:xfrm>
            <a:off x="2651760" y="3172968"/>
            <a:ext cx="3017520" cy="310896"/>
          </a:xfrm>
          <a:prstGeom prst="rect">
            <a:avLst/>
          </a:prstGeom>
          <a:noFill/>
          <a:ln/>
        </p:spPr>
        <p:txBody>
          <a:bodyPr wrap="square" lIns="0" tIns="0" rIns="0" bIns="0" rtlCol="0" anchor="ctr"/>
          <a:lstStyle/>
          <a:p>
            <a:pPr indent="0" marL="0">
              <a:buNone/>
            </a:pPr>
            <a:r>
              <a:rPr lang="en-US" sz="1600" b="1" dirty="0">
                <a:solidFill>
                  <a:srgbClr val="178C5F"/>
                </a:solidFill>
                <a:latin typeface="Calibri" pitchFamily="34" charset="0"/>
                <a:ea typeface="Calibri" pitchFamily="34" charset="-122"/>
                <a:cs typeface="Calibri" pitchFamily="34" charset="-120"/>
              </a:rPr>
              <a:t>$5,000–15,000 flat</a:t>
            </a:r>
            <a:endParaRPr lang="en-US" sz="1600" dirty="0"/>
          </a:p>
        </p:txBody>
      </p:sp>
      <p:sp>
        <p:nvSpPr>
          <p:cNvPr id="11" name="Text 9"/>
          <p:cNvSpPr/>
          <p:nvPr/>
        </p:nvSpPr>
        <p:spPr>
          <a:xfrm>
            <a:off x="1024128" y="3493008"/>
            <a:ext cx="4480560" cy="548640"/>
          </a:xfrm>
          <a:prstGeom prst="rect">
            <a:avLst/>
          </a:prstGeom>
          <a:noFill/>
          <a:ln/>
        </p:spPr>
        <p:txBody>
          <a:bodyPr wrap="square" lIns="0" tIns="0" rIns="0" bIns="0" rtlCol="0" anchor="ctr"/>
          <a:lstStyle/>
          <a:p>
            <a:pPr indent="0" marL="0">
              <a:lnSpc>
                <a:spcPts val="1600"/>
              </a:lnSpc>
              <a:buNone/>
            </a:pPr>
            <a:r>
              <a:rPr lang="en-US" sz="1150" dirty="0">
                <a:solidFill>
                  <a:srgbClr val="5A7183"/>
                </a:solidFill>
                <a:latin typeface="Calibri" pitchFamily="34" charset="0"/>
                <a:ea typeface="Calibri" pitchFamily="34" charset="-122"/>
                <a:cs typeface="Calibri" pitchFamily="34" charset="-120"/>
              </a:rPr>
              <a:t>Same work, real price. By now you have proof and a process.</a:t>
            </a:r>
            <a:endParaRPr lang="en-US" sz="1150" dirty="0"/>
          </a:p>
        </p:txBody>
      </p:sp>
      <p:sp>
        <p:nvSpPr>
          <p:cNvPr id="12" name="Text 10"/>
          <p:cNvSpPr/>
          <p:nvPr/>
        </p:nvSpPr>
        <p:spPr>
          <a:xfrm>
            <a:off x="1024128" y="4187952"/>
            <a:ext cx="1600200" cy="274320"/>
          </a:xfrm>
          <a:prstGeom prst="rect">
            <a:avLst/>
          </a:prstGeom>
          <a:noFill/>
          <a:ln/>
        </p:spPr>
        <p:txBody>
          <a:bodyPr wrap="square" lIns="0" tIns="0" rIns="0" bIns="0" rtlCol="0" anchor="ctr"/>
          <a:lstStyle/>
          <a:p>
            <a:pPr indent="0" marL="0">
              <a:buNone/>
            </a:pPr>
            <a:r>
              <a:rPr lang="en-US" sz="1250" b="1" dirty="0">
                <a:solidFill>
                  <a:srgbClr val="5A7183"/>
                </a:solidFill>
                <a:latin typeface="Calibri" pitchFamily="34" charset="0"/>
                <a:ea typeface="Calibri" pitchFamily="34" charset="-122"/>
                <a:cs typeface="Calibri" pitchFamily="34" charset="-120"/>
              </a:rPr>
              <a:t>Clients 6+</a:t>
            </a:r>
            <a:endParaRPr lang="en-US" sz="1250" dirty="0"/>
          </a:p>
        </p:txBody>
      </p:sp>
      <p:sp>
        <p:nvSpPr>
          <p:cNvPr id="13" name="Text 11"/>
          <p:cNvSpPr/>
          <p:nvPr/>
        </p:nvSpPr>
        <p:spPr>
          <a:xfrm>
            <a:off x="2651760" y="4160520"/>
            <a:ext cx="3017520" cy="310896"/>
          </a:xfrm>
          <a:prstGeom prst="rect">
            <a:avLst/>
          </a:prstGeom>
          <a:noFill/>
          <a:ln/>
        </p:spPr>
        <p:txBody>
          <a:bodyPr wrap="square" lIns="0" tIns="0" rIns="0" bIns="0" rtlCol="0" anchor="ctr"/>
          <a:lstStyle/>
          <a:p>
            <a:pPr indent="0" marL="0">
              <a:buNone/>
            </a:pPr>
            <a:r>
              <a:rPr lang="en-US" sz="1600" b="1" dirty="0">
                <a:solidFill>
                  <a:srgbClr val="178C5F"/>
                </a:solidFill>
                <a:latin typeface="Calibri" pitchFamily="34" charset="0"/>
                <a:ea typeface="Calibri" pitchFamily="34" charset="-122"/>
                <a:cs typeface="Calibri" pitchFamily="34" charset="-120"/>
              </a:rPr>
              <a:t>20–30% of savings</a:t>
            </a:r>
            <a:endParaRPr lang="en-US" sz="1600" dirty="0"/>
          </a:p>
        </p:txBody>
      </p:sp>
      <p:sp>
        <p:nvSpPr>
          <p:cNvPr id="14" name="Text 12"/>
          <p:cNvSpPr/>
          <p:nvPr/>
        </p:nvSpPr>
        <p:spPr>
          <a:xfrm>
            <a:off x="1024128" y="4480560"/>
            <a:ext cx="4480560" cy="548640"/>
          </a:xfrm>
          <a:prstGeom prst="rect">
            <a:avLst/>
          </a:prstGeom>
          <a:noFill/>
          <a:ln/>
        </p:spPr>
        <p:txBody>
          <a:bodyPr wrap="square" lIns="0" tIns="0" rIns="0" bIns="0" rtlCol="0" anchor="ctr"/>
          <a:lstStyle/>
          <a:p>
            <a:pPr indent="0" marL="0">
              <a:lnSpc>
                <a:spcPts val="1600"/>
              </a:lnSpc>
              <a:buNone/>
            </a:pPr>
            <a:r>
              <a:rPr lang="en-US" sz="1150" dirty="0">
                <a:solidFill>
                  <a:srgbClr val="5A7183"/>
                </a:solidFill>
                <a:latin typeface="Calibri" pitchFamily="34" charset="0"/>
                <a:ea typeface="Calibri" pitchFamily="34" charset="-122"/>
                <a:cs typeface="Calibri" pitchFamily="34" charset="-120"/>
              </a:rPr>
              <a:t>Only once you can measure savings properly and have contracts to back it.</a:t>
            </a:r>
            <a:endParaRPr lang="en-US" sz="1150" dirty="0"/>
          </a:p>
        </p:txBody>
      </p:sp>
      <p:sp>
        <p:nvSpPr>
          <p:cNvPr id="15" name="Text 13"/>
          <p:cNvSpPr/>
          <p:nvPr/>
        </p:nvSpPr>
        <p:spPr>
          <a:xfrm>
            <a:off x="1024128" y="4992624"/>
            <a:ext cx="4480560" cy="256032"/>
          </a:xfrm>
          <a:prstGeom prst="rect">
            <a:avLst/>
          </a:prstGeom>
          <a:noFill/>
          <a:ln/>
        </p:spPr>
        <p:txBody>
          <a:bodyPr wrap="square" lIns="0" tIns="0" rIns="0" bIns="0" rtlCol="0" anchor="ctr"/>
          <a:lstStyle/>
          <a:p>
            <a:pPr indent="0" marL="0">
              <a:buNone/>
            </a:pPr>
            <a:r>
              <a:rPr lang="en-US" sz="1150" b="1" i="1" dirty="0">
                <a:solidFill>
                  <a:srgbClr val="A03A3A"/>
                </a:solidFill>
                <a:latin typeface="Calibri" pitchFamily="34" charset="0"/>
                <a:ea typeface="Calibri" pitchFamily="34" charset="-122"/>
                <a:cs typeface="Calibri" pitchFamily="34" charset="-120"/>
              </a:rPr>
              <a:t>Flat fees first. Percentage deals start arguments.</a:t>
            </a:r>
            <a:endParaRPr lang="en-US" sz="1150" dirty="0"/>
          </a:p>
        </p:txBody>
      </p:sp>
      <p:sp>
        <p:nvSpPr>
          <p:cNvPr id="16" name="Shape 14"/>
          <p:cNvSpPr/>
          <p:nvPr/>
        </p:nvSpPr>
        <p:spPr>
          <a:xfrm>
            <a:off x="6300216" y="1536192"/>
            <a:ext cx="5248656" cy="3749040"/>
          </a:xfrm>
          <a:prstGeom prst="roundRect">
            <a:avLst>
              <a:gd name="adj" fmla="val 2439"/>
            </a:avLst>
          </a:prstGeom>
          <a:solidFill>
            <a:srgbClr val="0B1B2B"/>
          </a:solidFill>
          <a:ln w="12700">
            <a:solidFill>
              <a:srgbClr val="0B1B2B"/>
            </a:solidFill>
            <a:prstDash val="solid"/>
          </a:ln>
          <a:effectLst>
            <a:outerShdw sx="100000" sy="100000" kx="0" ky="0" algn="bl" rotWithShape="0" blurRad="152400" dist="38100" dir="5400000">
              <a:srgbClr val="9AAEC0">
                <a:alpha val="18000"/>
              </a:srgbClr>
            </a:outerShdw>
          </a:effectLst>
        </p:spPr>
      </p:sp>
      <p:sp>
        <p:nvSpPr>
          <p:cNvPr id="17" name="Text 15"/>
          <p:cNvSpPr/>
          <p:nvPr/>
        </p:nvSpPr>
        <p:spPr>
          <a:xfrm>
            <a:off x="6684264" y="1773936"/>
            <a:ext cx="448056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Stage 2  ·  The retainer</a:t>
            </a:r>
            <a:endParaRPr lang="en-US" sz="1500" dirty="0"/>
          </a:p>
        </p:txBody>
      </p:sp>
      <p:sp>
        <p:nvSpPr>
          <p:cNvPr id="18" name="Text 16"/>
          <p:cNvSpPr/>
          <p:nvPr/>
        </p:nvSpPr>
        <p:spPr>
          <a:xfrm>
            <a:off x="6684264" y="2103120"/>
            <a:ext cx="4480560" cy="274320"/>
          </a:xfrm>
          <a:prstGeom prst="rect">
            <a:avLst/>
          </a:prstGeom>
          <a:noFill/>
          <a:ln/>
        </p:spPr>
        <p:txBody>
          <a:bodyPr wrap="square" lIns="0" tIns="0" rIns="0" bIns="0" rtlCol="0" anchor="ctr"/>
          <a:lstStyle/>
          <a:p>
            <a:pPr indent="0" marL="0">
              <a:buNone/>
            </a:pPr>
            <a:r>
              <a:rPr lang="en-US" sz="1200" i="1" dirty="0">
                <a:solidFill>
                  <a:srgbClr val="9DB2C4"/>
                </a:solidFill>
                <a:latin typeface="Calibri" pitchFamily="34" charset="0"/>
                <a:ea typeface="Calibri" pitchFamily="34" charset="-122"/>
                <a:cs typeface="Calibri" pitchFamily="34" charset="-120"/>
              </a:rPr>
              <a:t>Waste grows back in 6–9 months. We stop it.</a:t>
            </a:r>
            <a:endParaRPr lang="en-US" sz="1200" dirty="0"/>
          </a:p>
        </p:txBody>
      </p:sp>
      <p:sp>
        <p:nvSpPr>
          <p:cNvPr id="19" name="Shape 17"/>
          <p:cNvSpPr/>
          <p:nvPr/>
        </p:nvSpPr>
        <p:spPr>
          <a:xfrm>
            <a:off x="6684264" y="2523744"/>
            <a:ext cx="4480560" cy="658368"/>
          </a:xfrm>
          <a:prstGeom prst="roundRect">
            <a:avLst>
              <a:gd name="adj" fmla="val 9722"/>
            </a:avLst>
          </a:prstGeom>
          <a:solidFill>
            <a:srgbClr val="12283C"/>
          </a:solidFill>
          <a:ln w="12700">
            <a:solidFill>
              <a:srgbClr val="1C4A6E"/>
            </a:solidFill>
            <a:prstDash val="solid"/>
          </a:ln>
        </p:spPr>
      </p:sp>
      <p:sp>
        <p:nvSpPr>
          <p:cNvPr id="20" name="Text 18"/>
          <p:cNvSpPr/>
          <p:nvPr/>
        </p:nvSpPr>
        <p:spPr>
          <a:xfrm>
            <a:off x="6867144" y="2596896"/>
            <a:ext cx="1371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a:t>
            </a:r>
            <a:endParaRPr lang="en-US" sz="1400" dirty="0"/>
          </a:p>
        </p:txBody>
      </p:sp>
      <p:sp>
        <p:nvSpPr>
          <p:cNvPr id="21" name="Text 19"/>
          <p:cNvSpPr/>
          <p:nvPr/>
        </p:nvSpPr>
        <p:spPr>
          <a:xfrm>
            <a:off x="8220456" y="2596896"/>
            <a:ext cx="1645920" cy="274320"/>
          </a:xfrm>
          <a:prstGeom prst="rect">
            <a:avLst/>
          </a:prstGeom>
          <a:noFill/>
          <a:ln/>
        </p:spPr>
        <p:txBody>
          <a:bodyPr wrap="square" lIns="0" tIns="0" rIns="0" bIns="0" rtlCol="0" anchor="ctr"/>
          <a:lstStyle/>
          <a:p>
            <a:pPr indent="0" marL="0">
              <a:buNone/>
            </a:pPr>
            <a:r>
              <a:rPr lang="en-US" sz="1400" b="1" dirty="0">
                <a:solidFill>
                  <a:srgbClr val="2ECC8F"/>
                </a:solidFill>
                <a:latin typeface="Calibri" pitchFamily="34" charset="0"/>
                <a:ea typeface="Calibri" pitchFamily="34" charset="-122"/>
                <a:cs typeface="Calibri" pitchFamily="34" charset="-120"/>
              </a:rPr>
              <a:t>$1,500 / mo</a:t>
            </a:r>
            <a:endParaRPr lang="en-US" sz="1400" dirty="0"/>
          </a:p>
        </p:txBody>
      </p:sp>
      <p:sp>
        <p:nvSpPr>
          <p:cNvPr id="22" name="Text 20"/>
          <p:cNvSpPr/>
          <p:nvPr/>
        </p:nvSpPr>
        <p:spPr>
          <a:xfrm>
            <a:off x="6867144" y="2871216"/>
            <a:ext cx="4114800" cy="256032"/>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Monthly report, alerts, budget management</a:t>
            </a:r>
            <a:endParaRPr lang="en-US" sz="1050" dirty="0"/>
          </a:p>
        </p:txBody>
      </p:sp>
      <p:sp>
        <p:nvSpPr>
          <p:cNvPr id="23" name="Shape 21"/>
          <p:cNvSpPr/>
          <p:nvPr/>
        </p:nvSpPr>
        <p:spPr>
          <a:xfrm>
            <a:off x="6684264" y="3300984"/>
            <a:ext cx="4480560" cy="658368"/>
          </a:xfrm>
          <a:prstGeom prst="roundRect">
            <a:avLst>
              <a:gd name="adj" fmla="val 9722"/>
            </a:avLst>
          </a:prstGeom>
          <a:solidFill>
            <a:srgbClr val="12283C"/>
          </a:solidFill>
          <a:ln w="12700">
            <a:solidFill>
              <a:srgbClr val="1C4A6E"/>
            </a:solidFill>
            <a:prstDash val="solid"/>
          </a:ln>
        </p:spPr>
      </p:sp>
      <p:sp>
        <p:nvSpPr>
          <p:cNvPr id="24" name="Text 22"/>
          <p:cNvSpPr/>
          <p:nvPr/>
        </p:nvSpPr>
        <p:spPr>
          <a:xfrm>
            <a:off x="6867144" y="3374136"/>
            <a:ext cx="1371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a:t>
            </a:r>
            <a:endParaRPr lang="en-US" sz="1400" dirty="0"/>
          </a:p>
        </p:txBody>
      </p:sp>
      <p:sp>
        <p:nvSpPr>
          <p:cNvPr id="25" name="Text 23"/>
          <p:cNvSpPr/>
          <p:nvPr/>
        </p:nvSpPr>
        <p:spPr>
          <a:xfrm>
            <a:off x="8220456" y="3374136"/>
            <a:ext cx="1645920" cy="274320"/>
          </a:xfrm>
          <a:prstGeom prst="rect">
            <a:avLst/>
          </a:prstGeom>
          <a:noFill/>
          <a:ln/>
        </p:spPr>
        <p:txBody>
          <a:bodyPr wrap="square" lIns="0" tIns="0" rIns="0" bIns="0" rtlCol="0" anchor="ctr"/>
          <a:lstStyle/>
          <a:p>
            <a:pPr indent="0" marL="0">
              <a:buNone/>
            </a:pPr>
            <a:r>
              <a:rPr lang="en-US" sz="1400" b="1" dirty="0">
                <a:solidFill>
                  <a:srgbClr val="2ECC8F"/>
                </a:solidFill>
                <a:latin typeface="Calibri" pitchFamily="34" charset="0"/>
                <a:ea typeface="Calibri" pitchFamily="34" charset="-122"/>
                <a:cs typeface="Calibri" pitchFamily="34" charset="-120"/>
              </a:rPr>
              <a:t>$3,000 / mo</a:t>
            </a:r>
            <a:endParaRPr lang="en-US" sz="1400" dirty="0"/>
          </a:p>
        </p:txBody>
      </p:sp>
      <p:sp>
        <p:nvSpPr>
          <p:cNvPr id="26" name="Text 24"/>
          <p:cNvSpPr/>
          <p:nvPr/>
        </p:nvSpPr>
        <p:spPr>
          <a:xfrm>
            <a:off x="6867144" y="3648456"/>
            <a:ext cx="4114800" cy="256032"/>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Adds automated guardrails + quarterly re-audit</a:t>
            </a:r>
            <a:endParaRPr lang="en-US" sz="1050" dirty="0"/>
          </a:p>
        </p:txBody>
      </p:sp>
      <p:sp>
        <p:nvSpPr>
          <p:cNvPr id="27" name="Shape 25"/>
          <p:cNvSpPr/>
          <p:nvPr/>
        </p:nvSpPr>
        <p:spPr>
          <a:xfrm>
            <a:off x="6684264" y="4078224"/>
            <a:ext cx="4480560" cy="658368"/>
          </a:xfrm>
          <a:prstGeom prst="roundRect">
            <a:avLst>
              <a:gd name="adj" fmla="val 9722"/>
            </a:avLst>
          </a:prstGeom>
          <a:solidFill>
            <a:srgbClr val="12283C"/>
          </a:solidFill>
          <a:ln w="12700">
            <a:solidFill>
              <a:srgbClr val="1C4A6E"/>
            </a:solidFill>
            <a:prstDash val="solid"/>
          </a:ln>
        </p:spPr>
      </p:sp>
      <p:sp>
        <p:nvSpPr>
          <p:cNvPr id="28" name="Text 26"/>
          <p:cNvSpPr/>
          <p:nvPr/>
        </p:nvSpPr>
        <p:spPr>
          <a:xfrm>
            <a:off x="6867144" y="4151376"/>
            <a:ext cx="1371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Embedded</a:t>
            </a:r>
            <a:endParaRPr lang="en-US" sz="1400" dirty="0"/>
          </a:p>
        </p:txBody>
      </p:sp>
      <p:sp>
        <p:nvSpPr>
          <p:cNvPr id="29" name="Text 27"/>
          <p:cNvSpPr/>
          <p:nvPr/>
        </p:nvSpPr>
        <p:spPr>
          <a:xfrm>
            <a:off x="8220456" y="4151376"/>
            <a:ext cx="1645920" cy="274320"/>
          </a:xfrm>
          <a:prstGeom prst="rect">
            <a:avLst/>
          </a:prstGeom>
          <a:noFill/>
          <a:ln/>
        </p:spPr>
        <p:txBody>
          <a:bodyPr wrap="square" lIns="0" tIns="0" rIns="0" bIns="0" rtlCol="0" anchor="ctr"/>
          <a:lstStyle/>
          <a:p>
            <a:pPr indent="0" marL="0">
              <a:buNone/>
            </a:pPr>
            <a:r>
              <a:rPr lang="en-US" sz="1400" b="1" dirty="0">
                <a:solidFill>
                  <a:srgbClr val="2ECC8F"/>
                </a:solidFill>
                <a:latin typeface="Calibri" pitchFamily="34" charset="0"/>
                <a:ea typeface="Calibri" pitchFamily="34" charset="-122"/>
                <a:cs typeface="Calibri" pitchFamily="34" charset="-120"/>
              </a:rPr>
              <a:t>$5,000+ / mo</a:t>
            </a:r>
            <a:endParaRPr lang="en-US" sz="1400" dirty="0"/>
          </a:p>
        </p:txBody>
      </p:sp>
      <p:sp>
        <p:nvSpPr>
          <p:cNvPr id="30" name="Text 28"/>
          <p:cNvSpPr/>
          <p:nvPr/>
        </p:nvSpPr>
        <p:spPr>
          <a:xfrm>
            <a:off x="6867144" y="4425696"/>
            <a:ext cx="4114800" cy="256032"/>
          </a:xfrm>
          <a:prstGeom prst="rect">
            <a:avLst/>
          </a:prstGeom>
          <a:noFill/>
          <a:ln/>
        </p:spPr>
        <p:txBody>
          <a:bodyPr wrap="square" lIns="0" tIns="0" rIns="0" bIns="0" rtlCol="0" anchor="ctr"/>
          <a:lstStyle/>
          <a:p>
            <a:pPr indent="0" marL="0">
              <a:buNone/>
            </a:pPr>
            <a:r>
              <a:rPr lang="en-US" sz="1050" dirty="0">
                <a:solidFill>
                  <a:srgbClr val="9DB2C4"/>
                </a:solidFill>
                <a:latin typeface="Calibri" pitchFamily="34" charset="0"/>
                <a:ea typeface="Calibri" pitchFamily="34" charset="-122"/>
                <a:cs typeface="Calibri" pitchFamily="34" charset="-120"/>
              </a:rPr>
              <a:t>Adds implementation hours + architecture review</a:t>
            </a:r>
            <a:endParaRPr lang="en-US" sz="1050" dirty="0"/>
          </a:p>
        </p:txBody>
      </p:sp>
      <p:sp>
        <p:nvSpPr>
          <p:cNvPr id="31" name="Text 29"/>
          <p:cNvSpPr/>
          <p:nvPr/>
        </p:nvSpPr>
        <p:spPr>
          <a:xfrm>
            <a:off x="6684264" y="4992624"/>
            <a:ext cx="4480560" cy="256032"/>
          </a:xfrm>
          <a:prstGeom prst="rect">
            <a:avLst/>
          </a:prstGeom>
          <a:noFill/>
          <a:ln/>
        </p:spPr>
        <p:txBody>
          <a:bodyPr wrap="square" lIns="0" tIns="0" rIns="0" bIns="0" rtlCol="0" anchor="ctr"/>
          <a:lstStyle/>
          <a:p>
            <a:pPr indent="0" marL="0">
              <a:buNone/>
            </a:pPr>
            <a:r>
              <a:rPr lang="en-US" sz="1150" b="1" i="1" dirty="0">
                <a:solidFill>
                  <a:srgbClr val="2ECC8F"/>
                </a:solidFill>
                <a:latin typeface="Calibri" pitchFamily="34" charset="0"/>
                <a:ea typeface="Calibri" pitchFamily="34" charset="-122"/>
                <a:cs typeface="Calibri" pitchFamily="34" charset="-120"/>
              </a:rPr>
              <a:t>Keep it under 10% of the savings it protects.</a:t>
            </a:r>
            <a:endParaRPr lang="en-US" sz="1150" dirty="0"/>
          </a:p>
        </p:txBody>
      </p:sp>
      <p:sp>
        <p:nvSpPr>
          <p:cNvPr id="32" name="Text 30"/>
          <p:cNvSpPr/>
          <p:nvPr/>
        </p:nvSpPr>
        <p:spPr>
          <a:xfrm>
            <a:off x="640080" y="5532120"/>
            <a:ext cx="10908792" cy="411480"/>
          </a:xfrm>
          <a:prstGeom prst="rect">
            <a:avLst/>
          </a:prstGeom>
          <a:noFill/>
          <a:ln/>
        </p:spPr>
        <p:txBody>
          <a:bodyPr wrap="square" lIns="0" tIns="0" rIns="0" bIns="0" rtlCol="0" anchor="ctr"/>
          <a:lstStyle/>
          <a:p>
            <a:pPr algn="ctr" indent="0" marL="0">
              <a:buNone/>
            </a:pPr>
            <a:r>
              <a:rPr lang="en-US" sz="1700" b="1" i="1" dirty="0">
                <a:solidFill>
                  <a:srgbClr val="0B1B2B"/>
                </a:solidFill>
                <a:latin typeface="Cambria" pitchFamily="34" charset="0"/>
                <a:ea typeface="Cambria" pitchFamily="34" charset="-122"/>
                <a:cs typeface="Cambria" pitchFamily="34" charset="-120"/>
              </a:rPr>
              <a:t>“The audit gets the money back once. The retainer is what stops it coming back.”</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640080" y="219456"/>
            <a:ext cx="10908792" cy="274320"/>
          </a:xfrm>
          <a:prstGeom prst="rect">
            <a:avLst/>
          </a:prstGeom>
          <a:noFill/>
          <a:ln/>
        </p:spPr>
        <p:txBody>
          <a:bodyPr wrap="square" lIns="0" tIns="0" rIns="0" bIns="0" rtlCol="0" anchor="ctr"/>
          <a:lstStyle/>
          <a:p>
            <a:pPr algn="l" indent="0" marL="0">
              <a:buNone/>
            </a:pPr>
            <a:r>
              <a:rPr lang="en-US" sz="1200" b="1" spc="200" kern="0" dirty="0">
                <a:solidFill>
                  <a:srgbClr val="2ECC8F"/>
                </a:solidFill>
                <a:latin typeface="Calibri" pitchFamily="34" charset="0"/>
                <a:ea typeface="Calibri" pitchFamily="34" charset="-122"/>
                <a:cs typeface="Calibri" pitchFamily="34" charset="-120"/>
              </a:rPr>
              <a:t>THE PATH</a:t>
            </a:r>
            <a:endParaRPr lang="en-US" sz="1200" dirty="0"/>
          </a:p>
        </p:txBody>
      </p:sp>
      <p:sp>
        <p:nvSpPr>
          <p:cNvPr id="3" name="Text 1"/>
          <p:cNvSpPr/>
          <p:nvPr/>
        </p:nvSpPr>
        <p:spPr>
          <a:xfrm>
            <a:off x="640080" y="457200"/>
            <a:ext cx="10908792"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From one client to $20k a month</a:t>
            </a:r>
            <a:endParaRPr lang="en-US" sz="3400" dirty="0"/>
          </a:p>
        </p:txBody>
      </p:sp>
      <p:graphicFrame>
        <p:nvGraphicFramePr>
          <p:cNvPr id="4" name="Chart 0" descr=""/>
          <p:cNvGraphicFramePr/>
          <p:nvPr/>
        </p:nvGraphicFramePr>
        <p:xfrm>
          <a:off x="640080" y="1481328"/>
          <a:ext cx="6858000" cy="37947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572768"/>
            <a:ext cx="3730752" cy="786384"/>
          </a:xfrm>
          <a:prstGeom prst="roundRect">
            <a:avLst>
              <a:gd name="adj" fmla="val 8140"/>
            </a:avLst>
          </a:prstGeom>
          <a:solidFill>
            <a:srgbClr val="12283C"/>
          </a:solidFill>
          <a:ln w="12700">
            <a:solidFill>
              <a:srgbClr val="1C4A6E"/>
            </a:solidFill>
            <a:prstDash val="solid"/>
          </a:ln>
        </p:spPr>
      </p:sp>
      <p:sp>
        <p:nvSpPr>
          <p:cNvPr id="6" name="Text 3"/>
          <p:cNvSpPr/>
          <p:nvPr/>
        </p:nvSpPr>
        <p:spPr>
          <a:xfrm>
            <a:off x="8028432" y="1664208"/>
            <a:ext cx="3291840" cy="256032"/>
          </a:xfrm>
          <a:prstGeom prst="rect">
            <a:avLst/>
          </a:prstGeom>
          <a:noFill/>
          <a:ln/>
        </p:spPr>
        <p:txBody>
          <a:bodyPr wrap="square" lIns="0" tIns="0" rIns="0" bIns="0" rtlCol="0" anchor="ctr"/>
          <a:lstStyle/>
          <a:p>
            <a:pPr indent="0" marL="0">
              <a:buNone/>
            </a:pPr>
            <a:r>
              <a:rPr lang="en-US" sz="1250" b="1" dirty="0">
                <a:solidFill>
                  <a:srgbClr val="2ECC8F"/>
                </a:solidFill>
                <a:latin typeface="Calibri" pitchFamily="34" charset="0"/>
                <a:ea typeface="Calibri" pitchFamily="34" charset="-122"/>
                <a:cs typeface="Calibri" pitchFamily="34" charset="-120"/>
              </a:rPr>
              <a:t>Month 1</a:t>
            </a:r>
            <a:endParaRPr lang="en-US" sz="1250" dirty="0"/>
          </a:p>
        </p:txBody>
      </p:sp>
      <p:sp>
        <p:nvSpPr>
          <p:cNvPr id="7" name="Text 4"/>
          <p:cNvSpPr/>
          <p:nvPr/>
        </p:nvSpPr>
        <p:spPr>
          <a:xfrm>
            <a:off x="8028432" y="1911096"/>
            <a:ext cx="3346704" cy="384048"/>
          </a:xfrm>
          <a:prstGeom prst="rect">
            <a:avLst/>
          </a:prstGeom>
          <a:noFill/>
          <a:ln/>
        </p:spPr>
        <p:txBody>
          <a:bodyPr wrap="square" lIns="0" tIns="0" rIns="0" bIns="0" rtlCol="0" anchor="ctr"/>
          <a:lstStyle/>
          <a:p>
            <a:pPr indent="0" marL="0">
              <a:lnSpc>
                <a:spcPts val="1400"/>
              </a:lnSpc>
              <a:buNone/>
            </a:pPr>
            <a:r>
              <a:rPr lang="en-US" sz="1050" dirty="0">
                <a:solidFill>
                  <a:srgbClr val="B4C6D6"/>
                </a:solidFill>
                <a:latin typeface="Calibri" pitchFamily="34" charset="0"/>
                <a:ea typeface="Calibri" pitchFamily="34" charset="-122"/>
                <a:cs typeface="Calibri" pitchFamily="34" charset="-120"/>
              </a:rPr>
              <a:t>One audit. Proof it works, and a testimonial.</a:t>
            </a:r>
            <a:endParaRPr lang="en-US" sz="1050" dirty="0"/>
          </a:p>
        </p:txBody>
      </p:sp>
      <p:sp>
        <p:nvSpPr>
          <p:cNvPr id="8" name="Shape 5"/>
          <p:cNvSpPr/>
          <p:nvPr/>
        </p:nvSpPr>
        <p:spPr>
          <a:xfrm>
            <a:off x="7818120" y="2505456"/>
            <a:ext cx="3730752" cy="786384"/>
          </a:xfrm>
          <a:prstGeom prst="roundRect">
            <a:avLst>
              <a:gd name="adj" fmla="val 8140"/>
            </a:avLst>
          </a:prstGeom>
          <a:solidFill>
            <a:srgbClr val="12283C"/>
          </a:solidFill>
          <a:ln w="12700">
            <a:solidFill>
              <a:srgbClr val="1C4A6E"/>
            </a:solidFill>
            <a:prstDash val="solid"/>
          </a:ln>
        </p:spPr>
      </p:sp>
      <p:sp>
        <p:nvSpPr>
          <p:cNvPr id="9" name="Text 6"/>
          <p:cNvSpPr/>
          <p:nvPr/>
        </p:nvSpPr>
        <p:spPr>
          <a:xfrm>
            <a:off x="8028432" y="2596896"/>
            <a:ext cx="3291840" cy="256032"/>
          </a:xfrm>
          <a:prstGeom prst="rect">
            <a:avLst/>
          </a:prstGeom>
          <a:noFill/>
          <a:ln/>
        </p:spPr>
        <p:txBody>
          <a:bodyPr wrap="square" lIns="0" tIns="0" rIns="0" bIns="0" rtlCol="0" anchor="ctr"/>
          <a:lstStyle/>
          <a:p>
            <a:pPr indent="0" marL="0">
              <a:buNone/>
            </a:pPr>
            <a:r>
              <a:rPr lang="en-US" sz="1250" b="1" dirty="0">
                <a:solidFill>
                  <a:srgbClr val="2ECC8F"/>
                </a:solidFill>
                <a:latin typeface="Calibri" pitchFamily="34" charset="0"/>
                <a:ea typeface="Calibri" pitchFamily="34" charset="-122"/>
                <a:cs typeface="Calibri" pitchFamily="34" charset="-120"/>
              </a:rPr>
              <a:t>Month 3</a:t>
            </a:r>
            <a:endParaRPr lang="en-US" sz="1250" dirty="0"/>
          </a:p>
        </p:txBody>
      </p:sp>
      <p:sp>
        <p:nvSpPr>
          <p:cNvPr id="10" name="Text 7"/>
          <p:cNvSpPr/>
          <p:nvPr/>
        </p:nvSpPr>
        <p:spPr>
          <a:xfrm>
            <a:off x="8028432" y="2843784"/>
            <a:ext cx="3346704" cy="384048"/>
          </a:xfrm>
          <a:prstGeom prst="rect">
            <a:avLst/>
          </a:prstGeom>
          <a:noFill/>
          <a:ln/>
        </p:spPr>
        <p:txBody>
          <a:bodyPr wrap="square" lIns="0" tIns="0" rIns="0" bIns="0" rtlCol="0" anchor="ctr"/>
          <a:lstStyle/>
          <a:p>
            <a:pPr indent="0" marL="0">
              <a:lnSpc>
                <a:spcPts val="1400"/>
              </a:lnSpc>
              <a:buNone/>
            </a:pPr>
            <a:r>
              <a:rPr lang="en-US" sz="1050" dirty="0">
                <a:solidFill>
                  <a:srgbClr val="B4C6D6"/>
                </a:solidFill>
                <a:latin typeface="Calibri" pitchFamily="34" charset="0"/>
                <a:ea typeface="Calibri" pitchFamily="34" charset="-122"/>
                <a:cs typeface="Calibri" pitchFamily="34" charset="-120"/>
              </a:rPr>
              <a:t>Three audits, first retainer. Repeatable process.</a:t>
            </a:r>
            <a:endParaRPr lang="en-US" sz="1050" dirty="0"/>
          </a:p>
        </p:txBody>
      </p:sp>
      <p:sp>
        <p:nvSpPr>
          <p:cNvPr id="11" name="Shape 8"/>
          <p:cNvSpPr/>
          <p:nvPr/>
        </p:nvSpPr>
        <p:spPr>
          <a:xfrm>
            <a:off x="7818120" y="3438144"/>
            <a:ext cx="3730752" cy="786384"/>
          </a:xfrm>
          <a:prstGeom prst="roundRect">
            <a:avLst>
              <a:gd name="adj" fmla="val 8140"/>
            </a:avLst>
          </a:prstGeom>
          <a:solidFill>
            <a:srgbClr val="12283C"/>
          </a:solidFill>
          <a:ln w="12700">
            <a:solidFill>
              <a:srgbClr val="1C4A6E"/>
            </a:solidFill>
            <a:prstDash val="solid"/>
          </a:ln>
        </p:spPr>
      </p:sp>
      <p:sp>
        <p:nvSpPr>
          <p:cNvPr id="12" name="Text 9"/>
          <p:cNvSpPr/>
          <p:nvPr/>
        </p:nvSpPr>
        <p:spPr>
          <a:xfrm>
            <a:off x="8028432" y="3529584"/>
            <a:ext cx="3291840" cy="256032"/>
          </a:xfrm>
          <a:prstGeom prst="rect">
            <a:avLst/>
          </a:prstGeom>
          <a:noFill/>
          <a:ln/>
        </p:spPr>
        <p:txBody>
          <a:bodyPr wrap="square" lIns="0" tIns="0" rIns="0" bIns="0" rtlCol="0" anchor="ctr"/>
          <a:lstStyle/>
          <a:p>
            <a:pPr indent="0" marL="0">
              <a:buNone/>
            </a:pPr>
            <a:r>
              <a:rPr lang="en-US" sz="1250" b="1" dirty="0">
                <a:solidFill>
                  <a:srgbClr val="2ECC8F"/>
                </a:solidFill>
                <a:latin typeface="Calibri" pitchFamily="34" charset="0"/>
                <a:ea typeface="Calibri" pitchFamily="34" charset="-122"/>
                <a:cs typeface="Calibri" pitchFamily="34" charset="-120"/>
              </a:rPr>
              <a:t>Month 6</a:t>
            </a:r>
            <a:endParaRPr lang="en-US" sz="1250" dirty="0"/>
          </a:p>
        </p:txBody>
      </p:sp>
      <p:sp>
        <p:nvSpPr>
          <p:cNvPr id="13" name="Text 10"/>
          <p:cNvSpPr/>
          <p:nvPr/>
        </p:nvSpPr>
        <p:spPr>
          <a:xfrm>
            <a:off x="8028432" y="3776472"/>
            <a:ext cx="3346704" cy="384048"/>
          </a:xfrm>
          <a:prstGeom prst="rect">
            <a:avLst/>
          </a:prstGeom>
          <a:noFill/>
          <a:ln/>
        </p:spPr>
        <p:txBody>
          <a:bodyPr wrap="square" lIns="0" tIns="0" rIns="0" bIns="0" rtlCol="0" anchor="ctr"/>
          <a:lstStyle/>
          <a:p>
            <a:pPr indent="0" marL="0">
              <a:lnSpc>
                <a:spcPts val="1400"/>
              </a:lnSpc>
              <a:buNone/>
            </a:pPr>
            <a:r>
              <a:rPr lang="en-US" sz="1050" dirty="0">
                <a:solidFill>
                  <a:srgbClr val="B4C6D6"/>
                </a:solidFill>
                <a:latin typeface="Calibri" pitchFamily="34" charset="0"/>
                <a:ea typeface="Calibri" pitchFamily="34" charset="-122"/>
                <a:cs typeface="Calibri" pitchFamily="34" charset="-120"/>
              </a:rPr>
              <a:t>Five retainers. Referrals start replacing cold outreach.</a:t>
            </a:r>
            <a:endParaRPr lang="en-US" sz="1050" dirty="0"/>
          </a:p>
        </p:txBody>
      </p:sp>
      <p:sp>
        <p:nvSpPr>
          <p:cNvPr id="14" name="Shape 11"/>
          <p:cNvSpPr/>
          <p:nvPr/>
        </p:nvSpPr>
        <p:spPr>
          <a:xfrm>
            <a:off x="7818120" y="4370832"/>
            <a:ext cx="3730752" cy="786384"/>
          </a:xfrm>
          <a:prstGeom prst="roundRect">
            <a:avLst>
              <a:gd name="adj" fmla="val 8140"/>
            </a:avLst>
          </a:prstGeom>
          <a:solidFill>
            <a:srgbClr val="12283C"/>
          </a:solidFill>
          <a:ln w="12700">
            <a:solidFill>
              <a:srgbClr val="1C4A6E"/>
            </a:solidFill>
            <a:prstDash val="solid"/>
          </a:ln>
        </p:spPr>
      </p:sp>
      <p:sp>
        <p:nvSpPr>
          <p:cNvPr id="15" name="Text 12"/>
          <p:cNvSpPr/>
          <p:nvPr/>
        </p:nvSpPr>
        <p:spPr>
          <a:xfrm>
            <a:off x="8028432" y="4462272"/>
            <a:ext cx="3291840" cy="256032"/>
          </a:xfrm>
          <a:prstGeom prst="rect">
            <a:avLst/>
          </a:prstGeom>
          <a:noFill/>
          <a:ln/>
        </p:spPr>
        <p:txBody>
          <a:bodyPr wrap="square" lIns="0" tIns="0" rIns="0" bIns="0" rtlCol="0" anchor="ctr"/>
          <a:lstStyle/>
          <a:p>
            <a:pPr indent="0" marL="0">
              <a:buNone/>
            </a:pPr>
            <a:r>
              <a:rPr lang="en-US" sz="1250" b="1" dirty="0">
                <a:solidFill>
                  <a:srgbClr val="2ECC8F"/>
                </a:solidFill>
                <a:latin typeface="Calibri" pitchFamily="34" charset="0"/>
                <a:ea typeface="Calibri" pitchFamily="34" charset="-122"/>
                <a:cs typeface="Calibri" pitchFamily="34" charset="-120"/>
              </a:rPr>
              <a:t>Month 12</a:t>
            </a:r>
            <a:endParaRPr lang="en-US" sz="1250" dirty="0"/>
          </a:p>
        </p:txBody>
      </p:sp>
      <p:sp>
        <p:nvSpPr>
          <p:cNvPr id="16" name="Text 13"/>
          <p:cNvSpPr/>
          <p:nvPr/>
        </p:nvSpPr>
        <p:spPr>
          <a:xfrm>
            <a:off x="8028432" y="4709160"/>
            <a:ext cx="3346704" cy="384048"/>
          </a:xfrm>
          <a:prstGeom prst="rect">
            <a:avLst/>
          </a:prstGeom>
          <a:noFill/>
          <a:ln/>
        </p:spPr>
        <p:txBody>
          <a:bodyPr wrap="square" lIns="0" tIns="0" rIns="0" bIns="0" rtlCol="0" anchor="ctr"/>
          <a:lstStyle/>
          <a:p>
            <a:pPr indent="0" marL="0">
              <a:lnSpc>
                <a:spcPts val="1400"/>
              </a:lnSpc>
              <a:buNone/>
            </a:pPr>
            <a:r>
              <a:rPr lang="en-US" sz="1050" dirty="0">
                <a:solidFill>
                  <a:srgbClr val="B4C6D6"/>
                </a:solidFill>
                <a:latin typeface="Calibri" pitchFamily="34" charset="0"/>
                <a:ea typeface="Calibri" pitchFamily="34" charset="-122"/>
                <a:cs typeface="Calibri" pitchFamily="34" charset="-120"/>
              </a:rPr>
              <a:t>Ten retainers. Now it needs a second person delivering.</a:t>
            </a:r>
            <a:endParaRPr lang="en-US" sz="1050" dirty="0"/>
          </a:p>
        </p:txBody>
      </p:sp>
      <p:sp>
        <p:nvSpPr>
          <p:cNvPr id="17" name="Text 14"/>
          <p:cNvSpPr/>
          <p:nvPr/>
        </p:nvSpPr>
        <p:spPr>
          <a:xfrm>
            <a:off x="640080" y="5742432"/>
            <a:ext cx="10908792" cy="411480"/>
          </a:xfrm>
          <a:prstGeom prst="rect">
            <a:avLst/>
          </a:prstGeom>
          <a:noFill/>
          <a:ln/>
        </p:spPr>
        <p:txBody>
          <a:bodyPr wrap="square" lIns="0" tIns="0" rIns="0" bIns="0" rtlCol="0" anchor="ctr"/>
          <a:lstStyle/>
          <a:p>
            <a:pPr algn="ctr" indent="0" marL="0">
              <a:buNone/>
            </a:pPr>
            <a:r>
              <a:rPr lang="en-US" sz="1500" b="1" i="1" dirty="0">
                <a:solidFill>
                  <a:srgbClr val="2ECC8F"/>
                </a:solidFill>
                <a:latin typeface="Calibri" pitchFamily="34" charset="0"/>
                <a:ea typeface="Calibri" pitchFamily="34" charset="-122"/>
                <a:cs typeface="Calibri" pitchFamily="34" charset="-120"/>
              </a:rPr>
              <a:t>The only thing standing between month one and month twelve is the number of conversations we start this week.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 Money</dc:title>
  <dc:subject>PptxGenJS Presentation</dc:subject>
  <dc:creator>FinOps Micro-Agency</dc:creator>
  <cp:lastModifiedBy>FinOps Micro-Agency</cp:lastModifiedBy>
  <cp:revision>1</cp:revision>
  <dcterms:created xsi:type="dcterms:W3CDTF">2026-07-25T17:52:49Z</dcterms:created>
  <dcterms:modified xsi:type="dcterms:W3CDTF">2026-07-25T17:52:49Z</dcterms:modified>
</cp:coreProperties>
</file>